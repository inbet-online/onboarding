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5"/>
  </p:notesMasterIdLst>
  <p:sldIdLst>
    <p:sldId id="256" r:id="rId2"/>
    <p:sldId id="258" r:id="rId3"/>
    <p:sldId id="259" r:id="rId4"/>
    <p:sldId id="273" r:id="rId5"/>
    <p:sldId id="284" r:id="rId6"/>
    <p:sldId id="266" r:id="rId7"/>
    <p:sldId id="267" r:id="rId8"/>
    <p:sldId id="269" r:id="rId9"/>
    <p:sldId id="285" r:id="rId10"/>
    <p:sldId id="270" r:id="rId11"/>
    <p:sldId id="271" r:id="rId12"/>
    <p:sldId id="272" r:id="rId13"/>
    <p:sldId id="286" r:id="rId14"/>
    <p:sldId id="287" r:id="rId15"/>
    <p:sldId id="288" r:id="rId16"/>
    <p:sldId id="289" r:id="rId17"/>
    <p:sldId id="291" r:id="rId18"/>
    <p:sldId id="279" r:id="rId19"/>
    <p:sldId id="280" r:id="rId20"/>
    <p:sldId id="263" r:id="rId21"/>
    <p:sldId id="262" r:id="rId22"/>
    <p:sldId id="290"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Koleva" userId="057c27db-495e-49e4-a744-f5cbc719aa45" providerId="ADAL" clId="{D929941C-9EEE-4BDC-A6C5-C11046D44598}"/>
    <pc:docChg chg="custSel modSld">
      <pc:chgData name="Adriana Koleva" userId="057c27db-495e-49e4-a744-f5cbc719aa45" providerId="ADAL" clId="{D929941C-9EEE-4BDC-A6C5-C11046D44598}" dt="2026-06-22T13:22:01.902" v="15" actId="20577"/>
      <pc:docMkLst>
        <pc:docMk/>
      </pc:docMkLst>
      <pc:sldChg chg="modSp mod">
        <pc:chgData name="Adriana Koleva" userId="057c27db-495e-49e4-a744-f5cbc719aa45" providerId="ADAL" clId="{D929941C-9EEE-4BDC-A6C5-C11046D44598}" dt="2026-06-17T08:26:44.918" v="6" actId="207"/>
        <pc:sldMkLst>
          <pc:docMk/>
          <pc:sldMk cId="3771421610" sldId="258"/>
        </pc:sldMkLst>
        <pc:graphicFrameChg chg="mod modGraphic">
          <ac:chgData name="Adriana Koleva" userId="057c27db-495e-49e4-a744-f5cbc719aa45" providerId="ADAL" clId="{D929941C-9EEE-4BDC-A6C5-C11046D44598}" dt="2026-06-17T08:26:44.918" v="6" actId="207"/>
          <ac:graphicFrameMkLst>
            <pc:docMk/>
            <pc:sldMk cId="3771421610" sldId="258"/>
            <ac:graphicFrameMk id="5" creationId="{D2361B99-735C-A050-2806-9D46486F8FD6}"/>
          </ac:graphicFrameMkLst>
        </pc:graphicFrameChg>
      </pc:sldChg>
      <pc:sldChg chg="modSp mod">
        <pc:chgData name="Adriana Koleva" userId="057c27db-495e-49e4-a744-f5cbc719aa45" providerId="ADAL" clId="{D929941C-9EEE-4BDC-A6C5-C11046D44598}" dt="2026-06-22T13:22:01.902" v="15" actId="20577"/>
        <pc:sldMkLst>
          <pc:docMk/>
          <pc:sldMk cId="3750233769" sldId="259"/>
        </pc:sldMkLst>
        <pc:spChg chg="mod">
          <ac:chgData name="Adriana Koleva" userId="057c27db-495e-49e4-a744-f5cbc719aa45" providerId="ADAL" clId="{D929941C-9EEE-4BDC-A6C5-C11046D44598}" dt="2026-06-22T13:22:01.902" v="15" actId="20577"/>
          <ac:spMkLst>
            <pc:docMk/>
            <pc:sldMk cId="3750233769" sldId="259"/>
            <ac:spMk id="3" creationId="{6AA46C63-CAE9-1F12-59DD-68959CAF4B04}"/>
          </ac:spMkLst>
        </pc:spChg>
        <pc:graphicFrameChg chg="modGraphic">
          <ac:chgData name="Adriana Koleva" userId="057c27db-495e-49e4-a744-f5cbc719aa45" providerId="ADAL" clId="{D929941C-9EEE-4BDC-A6C5-C11046D44598}" dt="2026-06-22T13:21:54.889" v="10" actId="20577"/>
          <ac:graphicFrameMkLst>
            <pc:docMk/>
            <pc:sldMk cId="3750233769" sldId="259"/>
            <ac:graphicFrameMk id="4" creationId="{BE0E6496-AF54-9324-E19A-6CC3DCF018FB}"/>
          </ac:graphicFrameMkLst>
        </pc:graphicFrame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hyperlink" Target="https://inbet.mx/sports" TargetMode="External"/><Relationship Id="rId1" Type="http://schemas.openxmlformats.org/officeDocument/2006/relationships/hyperlink" Target="https://inbet.com/sports" TargetMode="External"/></Relationships>
</file>

<file path=ppt/diagrams/_rels/data17.xml.rels><?xml version="1.0" encoding="UTF-8" standalone="yes"?>
<Relationships xmlns="http://schemas.openxmlformats.org/package/2006/relationships"><Relationship Id="rId1" Type="http://schemas.openxmlformats.org/officeDocument/2006/relationships/hyperlink" Target="https://inbet-team-o4nnjzwlbs0c.atlassian.net/wiki/spaces/CRM/pages/461176834/Jira+Tutorial+CRM" TargetMode="External"/></Relationships>
</file>

<file path=ppt/diagrams/_rels/drawing1.xml.rels><?xml version="1.0" encoding="UTF-8" standalone="yes"?>
<Relationships xmlns="http://schemas.openxmlformats.org/package/2006/relationships"><Relationship Id="rId2" Type="http://schemas.openxmlformats.org/officeDocument/2006/relationships/hyperlink" Target="https://inbet.mx/sports" TargetMode="External"/><Relationship Id="rId1" Type="http://schemas.openxmlformats.org/officeDocument/2006/relationships/hyperlink" Target="https://inbet.com/sports" TargetMode="External"/></Relationships>
</file>

<file path=ppt/diagrams/_rels/drawing17.xml.rels><?xml version="1.0" encoding="UTF-8" standalone="yes"?>
<Relationships xmlns="http://schemas.openxmlformats.org/package/2006/relationships"><Relationship Id="rId1" Type="http://schemas.openxmlformats.org/officeDocument/2006/relationships/hyperlink" Target="https://inbet-team-o4nnjzwlbs0c.atlassian.net/wiki/spaces/CRM/pages/461176834/Jira+Tutorial+CRM" TargetMode="Externa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DAAAE1-3FFC-43EC-A37C-AE01F7A07DA5}" type="doc">
      <dgm:prSet loTypeId="urn:microsoft.com/office/officeart/2005/8/layout/hList9" loCatId="list" qsTypeId="urn:microsoft.com/office/officeart/2005/8/quickstyle/3d1" qsCatId="3D" csTypeId="urn:microsoft.com/office/officeart/2005/8/colors/accent2_2" csCatId="accent2" phldr="1"/>
      <dgm:spPr/>
      <dgm:t>
        <a:bodyPr/>
        <a:lstStyle/>
        <a:p>
          <a:endParaRPr lang="en-US"/>
        </a:p>
      </dgm:t>
    </dgm:pt>
    <dgm:pt modelId="{EBD03908-8DB8-4939-99D5-86C5AE067850}">
      <dgm:prSet phldrT="[Text]"/>
      <dgm:spPr/>
      <dgm:t>
        <a:bodyPr/>
        <a:lstStyle/>
        <a:p>
          <a:r>
            <a:rPr lang="en-US" dirty="0" err="1">
              <a:solidFill>
                <a:srgbClr val="FFFF00"/>
              </a:solidFill>
            </a:rPr>
            <a:t>Inbet</a:t>
          </a:r>
          <a:r>
            <a:rPr lang="en-US" dirty="0"/>
            <a:t> Online</a:t>
          </a:r>
        </a:p>
      </dgm:t>
    </dgm:pt>
    <dgm:pt modelId="{84175406-8D0F-4601-B9EB-05CA44028C2F}" type="parTrans" cxnId="{C2A5F907-10D2-407F-949F-85491133EB2B}">
      <dgm:prSet/>
      <dgm:spPr/>
      <dgm:t>
        <a:bodyPr/>
        <a:lstStyle/>
        <a:p>
          <a:endParaRPr lang="en-US"/>
        </a:p>
      </dgm:t>
    </dgm:pt>
    <dgm:pt modelId="{9A099F84-9562-42DC-802D-15E73C342259}" type="sibTrans" cxnId="{C2A5F907-10D2-407F-949F-85491133EB2B}">
      <dgm:prSet/>
      <dgm:spPr/>
      <dgm:t>
        <a:bodyPr/>
        <a:lstStyle/>
        <a:p>
          <a:endParaRPr lang="en-US"/>
        </a:p>
      </dgm:t>
    </dgm:pt>
    <dgm:pt modelId="{2396258B-C7D2-4D09-802A-1A807E0E8D92}">
      <dgm:prSet phldrT="[Text]">
        <dgm:style>
          <a:lnRef idx="1">
            <a:schemeClr val="accent3"/>
          </a:lnRef>
          <a:fillRef idx="3">
            <a:schemeClr val="accent3"/>
          </a:fillRef>
          <a:effectRef idx="2">
            <a:schemeClr val="accent3"/>
          </a:effectRef>
          <a:fontRef idx="minor">
            <a:schemeClr val="lt1"/>
          </a:fontRef>
        </dgm:style>
      </dgm:prSet>
      <dgm:spPr/>
      <dgm:t>
        <a:bodyPr/>
        <a:lstStyle/>
        <a:p>
          <a:r>
            <a:rPr lang="en-US"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Inbet</a:t>
          </a:r>
          <a:r>
            <a:rPr lang="en-US" dirty="0">
              <a:hlinkClick xmlns:r="http://schemas.openxmlformats.org/officeDocument/2006/relationships" r:id="rId1"/>
            </a:rPr>
            <a:t>.com</a:t>
          </a:r>
          <a:endParaRPr lang="en-US" dirty="0"/>
        </a:p>
      </dgm:t>
    </dgm:pt>
    <dgm:pt modelId="{40A52E27-3982-4BA0-8746-94606C9194ED}" type="parTrans" cxnId="{83D992D6-A525-4FAA-8894-33C6E377AB3B}">
      <dgm:prSet/>
      <dgm:spPr/>
      <dgm:t>
        <a:bodyPr/>
        <a:lstStyle/>
        <a:p>
          <a:endParaRPr lang="en-US"/>
        </a:p>
      </dgm:t>
    </dgm:pt>
    <dgm:pt modelId="{DE6D729D-2C2F-482D-9B39-ED26E9107C49}" type="sibTrans" cxnId="{83D992D6-A525-4FAA-8894-33C6E377AB3B}">
      <dgm:prSet/>
      <dgm:spPr/>
      <dgm:t>
        <a:bodyPr/>
        <a:lstStyle/>
        <a:p>
          <a:endParaRPr lang="en-US"/>
        </a:p>
      </dgm:t>
    </dgm:pt>
    <dgm:pt modelId="{0604CCBB-3015-4541-AF70-C0600CE07CF8}">
      <dgm:prSet phldrT="[Text]"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err="1">
              <a:solidFill>
                <a:srgbClr val="F4EE00"/>
              </a:solidFill>
              <a:latin typeface="Trebuchet MS" panose="020B0603020202020204"/>
              <a:ea typeface="+mn-ea"/>
              <a:cs typeface="+mn-cs"/>
              <a:hlinkClick xmlns:r="http://schemas.openxmlformats.org/officeDocument/2006/relationships" r:id="rId2">
                <a:extLst>
                  <a:ext uri="{A12FA001-AC4F-418D-AE19-62706E023703}">
                    <ahyp:hlinkClr xmlns:ahyp="http://schemas.microsoft.com/office/drawing/2018/hyperlinkcolor" val="tx"/>
                  </a:ext>
                </a:extLst>
              </a:hlinkClick>
            </a:rPr>
            <a:t>Inbet</a:t>
          </a:r>
          <a:r>
            <a:rPr lang="bg-BG" sz="3000" kern="1200" dirty="0">
              <a:solidFill>
                <a:schemeClr val="tx2"/>
              </a:solidFill>
              <a:latin typeface="Trebuchet MS" panose="020B0603020202020204"/>
              <a:ea typeface="+mn-ea"/>
              <a:cs typeface="+mn-cs"/>
              <a:hlinkClick xmlns:r="http://schemas.openxmlformats.org/officeDocument/2006/relationships" r:id="rId2"/>
            </a:rPr>
            <a:t>.</a:t>
          </a:r>
          <a:r>
            <a:rPr lang="en-US" sz="3000" kern="1200" dirty="0">
              <a:solidFill>
                <a:schemeClr val="tx2"/>
              </a:solidFill>
              <a:latin typeface="Trebuchet MS" panose="020B0603020202020204"/>
              <a:ea typeface="+mn-ea"/>
              <a:cs typeface="+mn-cs"/>
              <a:hlinkClick xmlns:r="http://schemas.openxmlformats.org/officeDocument/2006/relationships" r:id="rId2"/>
            </a:rPr>
            <a:t>mx</a:t>
          </a:r>
          <a:endParaRPr lang="en-US" sz="3000" kern="1200" dirty="0">
            <a:solidFill>
              <a:schemeClr val="tx2"/>
            </a:solidFill>
            <a:latin typeface="Trebuchet MS" panose="020B0603020202020204"/>
            <a:ea typeface="+mn-ea"/>
            <a:cs typeface="+mn-cs"/>
          </a:endParaRPr>
        </a:p>
      </dgm:t>
    </dgm:pt>
    <dgm:pt modelId="{DB16512C-521A-46B2-A48F-D016BF06AD6A}" type="parTrans" cxnId="{7145F9B2-0F1B-4867-8D52-8E17EF12BA6F}">
      <dgm:prSet/>
      <dgm:spPr/>
      <dgm:t>
        <a:bodyPr/>
        <a:lstStyle/>
        <a:p>
          <a:endParaRPr lang="en-US"/>
        </a:p>
      </dgm:t>
    </dgm:pt>
    <dgm:pt modelId="{352BC997-A43A-4459-884D-B49AEC6F21FF}" type="sibTrans" cxnId="{7145F9B2-0F1B-4867-8D52-8E17EF12BA6F}">
      <dgm:prSet/>
      <dgm:spPr/>
      <dgm:t>
        <a:bodyPr/>
        <a:lstStyle/>
        <a:p>
          <a:endParaRPr lang="en-US"/>
        </a:p>
      </dgm:t>
    </dgm:pt>
    <dgm:pt modelId="{EE70B085-C120-4838-BFB0-6445A69806AF}">
      <dgm:prSet phldrT="[Text]"/>
      <dgm:spPr/>
      <dgm:t>
        <a:bodyPr/>
        <a:lstStyle/>
        <a:p>
          <a:r>
            <a:rPr lang="en-US" dirty="0" err="1">
              <a:solidFill>
                <a:srgbClr val="FFFF00"/>
              </a:solidFill>
            </a:rPr>
            <a:t>Inbet</a:t>
          </a:r>
          <a:r>
            <a:rPr lang="en-US" dirty="0"/>
            <a:t> Offline</a:t>
          </a:r>
        </a:p>
      </dgm:t>
    </dgm:pt>
    <dgm:pt modelId="{AAA0ECBD-0EE5-4535-815A-B8127E9DC71B}" type="parTrans" cxnId="{32E3F5E7-87EB-48A5-A7A8-17A91197BE34}">
      <dgm:prSet/>
      <dgm:spPr/>
      <dgm:t>
        <a:bodyPr/>
        <a:lstStyle/>
        <a:p>
          <a:endParaRPr lang="en-US"/>
        </a:p>
      </dgm:t>
    </dgm:pt>
    <dgm:pt modelId="{752D4306-6BF8-415E-8C7F-13646FD2967F}" type="sibTrans" cxnId="{32E3F5E7-87EB-48A5-A7A8-17A91197BE34}">
      <dgm:prSet/>
      <dgm:spPr/>
      <dgm:t>
        <a:bodyPr/>
        <a:lstStyle/>
        <a:p>
          <a:endParaRPr lang="en-US"/>
        </a:p>
      </dgm:t>
    </dgm:pt>
    <dgm:pt modelId="{0B7C6B73-5DF4-4366-8CAA-4FF48E722D90}">
      <dgm:prSet phldrT="[Text]"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Gaming halls</a:t>
          </a:r>
        </a:p>
      </dgm:t>
    </dgm:pt>
    <dgm:pt modelId="{30C2B754-967C-46E3-874F-E2BFF3F4429D}" type="parTrans" cxnId="{BA02ED2B-D78A-4A95-8850-DC8A63ACB2FA}">
      <dgm:prSet/>
      <dgm:spPr/>
      <dgm:t>
        <a:bodyPr/>
        <a:lstStyle/>
        <a:p>
          <a:endParaRPr lang="en-US"/>
        </a:p>
      </dgm:t>
    </dgm:pt>
    <dgm:pt modelId="{7871B9C5-7C30-4032-9C43-03A2326C4D8B}" type="sibTrans" cxnId="{BA02ED2B-D78A-4A95-8850-DC8A63ACB2FA}">
      <dgm:prSet/>
      <dgm:spPr/>
      <dgm:t>
        <a:bodyPr/>
        <a:lstStyle/>
        <a:p>
          <a:endParaRPr lang="en-US"/>
        </a:p>
      </dgm:t>
    </dgm:pt>
    <dgm:pt modelId="{27221B82-BE08-4E65-9F2B-5A35B73A7DE0}">
      <dgm:prSet phldrT="[Text]" phldr="0"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Retails</a:t>
          </a:r>
        </a:p>
      </dgm:t>
    </dgm:pt>
    <dgm:pt modelId="{DD845EBC-CB8D-46BC-BF8A-BC4659094F70}" type="parTrans" cxnId="{B80BD172-9EDB-49AE-BEF5-90FF545A32E4}">
      <dgm:prSet/>
      <dgm:spPr/>
      <dgm:t>
        <a:bodyPr/>
        <a:lstStyle/>
        <a:p>
          <a:endParaRPr lang="en-US"/>
        </a:p>
      </dgm:t>
    </dgm:pt>
    <dgm:pt modelId="{B2B3029C-32B6-42BC-943F-01E8FE7D1F88}" type="sibTrans" cxnId="{B80BD172-9EDB-49AE-BEF5-90FF545A32E4}">
      <dgm:prSet/>
      <dgm:spPr/>
      <dgm:t>
        <a:bodyPr/>
        <a:lstStyle/>
        <a:p>
          <a:endParaRPr lang="en-US"/>
        </a:p>
      </dgm:t>
    </dgm:pt>
    <dgm:pt modelId="{A2EF95C6-1017-471D-A7CE-3D857BABB25A}" type="pres">
      <dgm:prSet presAssocID="{9DDAAAE1-3FFC-43EC-A37C-AE01F7A07DA5}" presName="list" presStyleCnt="0">
        <dgm:presLayoutVars>
          <dgm:dir/>
          <dgm:animLvl val="lvl"/>
        </dgm:presLayoutVars>
      </dgm:prSet>
      <dgm:spPr/>
    </dgm:pt>
    <dgm:pt modelId="{64D2ABEC-13A1-4A5C-A4E9-48AB70BBA23A}" type="pres">
      <dgm:prSet presAssocID="{EBD03908-8DB8-4939-99D5-86C5AE067850}" presName="posSpace" presStyleCnt="0"/>
      <dgm:spPr/>
    </dgm:pt>
    <dgm:pt modelId="{23793EFF-2A04-49BE-8B57-696780807C71}" type="pres">
      <dgm:prSet presAssocID="{EBD03908-8DB8-4939-99D5-86C5AE067850}" presName="vertFlow" presStyleCnt="0"/>
      <dgm:spPr/>
    </dgm:pt>
    <dgm:pt modelId="{009A8ADA-BAAA-4AFA-89DC-A3AB4D2CB097}" type="pres">
      <dgm:prSet presAssocID="{EBD03908-8DB8-4939-99D5-86C5AE067850}" presName="topSpace" presStyleCnt="0"/>
      <dgm:spPr/>
    </dgm:pt>
    <dgm:pt modelId="{77E64216-6E0B-4D71-9657-A022E606E94F}" type="pres">
      <dgm:prSet presAssocID="{EBD03908-8DB8-4939-99D5-86C5AE067850}" presName="firstComp" presStyleCnt="0"/>
      <dgm:spPr/>
    </dgm:pt>
    <dgm:pt modelId="{45A0C5AF-796B-4891-9EB7-A8C2C776A10F}" type="pres">
      <dgm:prSet presAssocID="{EBD03908-8DB8-4939-99D5-86C5AE067850}" presName="firstChild" presStyleLbl="bgAccFollowNode1" presStyleIdx="0" presStyleCnt="4"/>
      <dgm:spPr/>
    </dgm:pt>
    <dgm:pt modelId="{576996E8-F54D-4F6B-9F42-6E34DD6897DE}" type="pres">
      <dgm:prSet presAssocID="{EBD03908-8DB8-4939-99D5-86C5AE067850}" presName="firstChildTx" presStyleLbl="bgAccFollowNode1" presStyleIdx="0" presStyleCnt="4">
        <dgm:presLayoutVars>
          <dgm:bulletEnabled val="1"/>
        </dgm:presLayoutVars>
      </dgm:prSet>
      <dgm:spPr/>
    </dgm:pt>
    <dgm:pt modelId="{2FCC79D9-E3AD-4C6F-83CF-3DE3E0D3D0E2}" type="pres">
      <dgm:prSet presAssocID="{0604CCBB-3015-4541-AF70-C0600CE07CF8}" presName="comp" presStyleCnt="0"/>
      <dgm:spPr/>
    </dgm:pt>
    <dgm:pt modelId="{3CEB7BC0-4607-446C-8E53-DD29E652090E}" type="pres">
      <dgm:prSet presAssocID="{0604CCBB-3015-4541-AF70-C0600CE07CF8}" presName="child" presStyleLbl="bgAccFollowNode1" presStyleIdx="1" presStyleCnt="4"/>
      <dgm:spPr>
        <a:xfrm>
          <a:off x="1251859" y="2765746"/>
          <a:ext cx="2344487" cy="1563773"/>
        </a:xfrm>
        <a:prstGeom prst="rect">
          <a:avLst/>
        </a:prstGeom>
      </dgm:spPr>
    </dgm:pt>
    <dgm:pt modelId="{BE674DCC-3764-434B-9D2D-DCE360DA225D}" type="pres">
      <dgm:prSet presAssocID="{0604CCBB-3015-4541-AF70-C0600CE07CF8}" presName="childTx" presStyleLbl="bgAccFollowNode1" presStyleIdx="1" presStyleCnt="4">
        <dgm:presLayoutVars>
          <dgm:bulletEnabled val="1"/>
        </dgm:presLayoutVars>
      </dgm:prSet>
      <dgm:spPr/>
    </dgm:pt>
    <dgm:pt modelId="{C0E360D5-982C-4692-B94C-03FB0B932091}" type="pres">
      <dgm:prSet presAssocID="{EBD03908-8DB8-4939-99D5-86C5AE067850}" presName="negSpace" presStyleCnt="0"/>
      <dgm:spPr/>
    </dgm:pt>
    <dgm:pt modelId="{65825059-EA62-4A80-B67A-CDA867F80CF1}" type="pres">
      <dgm:prSet presAssocID="{EBD03908-8DB8-4939-99D5-86C5AE067850}" presName="circle" presStyleLbl="node1" presStyleIdx="0" presStyleCnt="2"/>
      <dgm:spPr/>
    </dgm:pt>
    <dgm:pt modelId="{57845C4C-3E8C-4157-86CE-ADDBCEE5217F}" type="pres">
      <dgm:prSet presAssocID="{9A099F84-9562-42DC-802D-15E73C342259}" presName="transSpace" presStyleCnt="0"/>
      <dgm:spPr/>
    </dgm:pt>
    <dgm:pt modelId="{54794665-4F17-4044-A8E1-4B635A49B8A6}" type="pres">
      <dgm:prSet presAssocID="{EE70B085-C120-4838-BFB0-6445A69806AF}" presName="posSpace" presStyleCnt="0"/>
      <dgm:spPr/>
    </dgm:pt>
    <dgm:pt modelId="{8046380B-45B2-4BB8-87CB-F9D2FB3C8198}" type="pres">
      <dgm:prSet presAssocID="{EE70B085-C120-4838-BFB0-6445A69806AF}" presName="vertFlow" presStyleCnt="0"/>
      <dgm:spPr/>
    </dgm:pt>
    <dgm:pt modelId="{5BED3764-4E0B-43A3-8383-BDFFD1DCD268}" type="pres">
      <dgm:prSet presAssocID="{EE70B085-C120-4838-BFB0-6445A69806AF}" presName="topSpace" presStyleCnt="0"/>
      <dgm:spPr/>
    </dgm:pt>
    <dgm:pt modelId="{247EC75E-BE22-4CF7-A7F8-50622D116F45}" type="pres">
      <dgm:prSet presAssocID="{EE70B085-C120-4838-BFB0-6445A69806AF}" presName="firstComp" presStyleCnt="0"/>
      <dgm:spPr/>
    </dgm:pt>
    <dgm:pt modelId="{1DD8956C-C880-437C-B147-99F803F98DC8}" type="pres">
      <dgm:prSet presAssocID="{EE70B085-C120-4838-BFB0-6445A69806AF}" presName="firstChild" presStyleLbl="bgAccFollowNode1" presStyleIdx="2" presStyleCnt="4" custLinFactNeighborX="1509"/>
      <dgm:spPr>
        <a:xfrm>
          <a:off x="5159337" y="1201973"/>
          <a:ext cx="2344487" cy="1563773"/>
        </a:xfrm>
        <a:prstGeom prst="rect">
          <a:avLst/>
        </a:prstGeom>
      </dgm:spPr>
    </dgm:pt>
    <dgm:pt modelId="{FD21FD10-AE53-4B1B-B12C-FAD3455F75DD}" type="pres">
      <dgm:prSet presAssocID="{EE70B085-C120-4838-BFB0-6445A69806AF}" presName="firstChildTx" presStyleLbl="bgAccFollowNode1" presStyleIdx="2" presStyleCnt="4">
        <dgm:presLayoutVars>
          <dgm:bulletEnabled val="1"/>
        </dgm:presLayoutVars>
      </dgm:prSet>
      <dgm:spPr/>
    </dgm:pt>
    <dgm:pt modelId="{73C1E097-CF4B-4932-BFD5-9CD94D1FE621}" type="pres">
      <dgm:prSet presAssocID="{27221B82-BE08-4E65-9F2B-5A35B73A7DE0}" presName="comp" presStyleCnt="0"/>
      <dgm:spPr/>
    </dgm:pt>
    <dgm:pt modelId="{33067B1B-C9E5-483C-A5DD-FB0A821D7561}" type="pres">
      <dgm:prSet presAssocID="{27221B82-BE08-4E65-9F2B-5A35B73A7DE0}" presName="child" presStyleLbl="bgAccFollowNode1" presStyleIdx="3" presStyleCnt="4"/>
      <dgm:spPr>
        <a:xfrm>
          <a:off x="5159337" y="2765746"/>
          <a:ext cx="2344487" cy="1563773"/>
        </a:xfrm>
        <a:prstGeom prst="rect">
          <a:avLst/>
        </a:prstGeom>
      </dgm:spPr>
    </dgm:pt>
    <dgm:pt modelId="{15883BCD-02E1-4951-ADFC-9B381A4A06DB}" type="pres">
      <dgm:prSet presAssocID="{27221B82-BE08-4E65-9F2B-5A35B73A7DE0}" presName="childTx" presStyleLbl="bgAccFollowNode1" presStyleIdx="3" presStyleCnt="4">
        <dgm:presLayoutVars>
          <dgm:bulletEnabled val="1"/>
        </dgm:presLayoutVars>
      </dgm:prSet>
      <dgm:spPr/>
    </dgm:pt>
    <dgm:pt modelId="{6670825E-17B8-4C55-94FA-2121B16FC047}" type="pres">
      <dgm:prSet presAssocID="{EE70B085-C120-4838-BFB0-6445A69806AF}" presName="negSpace" presStyleCnt="0"/>
      <dgm:spPr/>
    </dgm:pt>
    <dgm:pt modelId="{F41C0044-393A-4FBC-B4D3-F9635BBDE383}" type="pres">
      <dgm:prSet presAssocID="{EE70B085-C120-4838-BFB0-6445A69806AF}" presName="circle" presStyleLbl="node1" presStyleIdx="1" presStyleCnt="2"/>
      <dgm:spPr/>
    </dgm:pt>
  </dgm:ptLst>
  <dgm:cxnLst>
    <dgm:cxn modelId="{4B28BB00-7867-46A0-89C7-A20A21D1E8D4}" type="presOf" srcId="{27221B82-BE08-4E65-9F2B-5A35B73A7DE0}" destId="{33067B1B-C9E5-483C-A5DD-FB0A821D7561}" srcOrd="0" destOrd="0" presId="urn:microsoft.com/office/officeart/2005/8/layout/hList9"/>
    <dgm:cxn modelId="{C2A5F907-10D2-407F-949F-85491133EB2B}" srcId="{9DDAAAE1-3FFC-43EC-A37C-AE01F7A07DA5}" destId="{EBD03908-8DB8-4939-99D5-86C5AE067850}" srcOrd="0" destOrd="0" parTransId="{84175406-8D0F-4601-B9EB-05CA44028C2F}" sibTransId="{9A099F84-9562-42DC-802D-15E73C342259}"/>
    <dgm:cxn modelId="{E9BA7218-91DC-45B9-855A-5ED9EF239418}" type="presOf" srcId="{0B7C6B73-5DF4-4366-8CAA-4FF48E722D90}" destId="{FD21FD10-AE53-4B1B-B12C-FAD3455F75DD}" srcOrd="1" destOrd="0" presId="urn:microsoft.com/office/officeart/2005/8/layout/hList9"/>
    <dgm:cxn modelId="{BA02ED2B-D78A-4A95-8850-DC8A63ACB2FA}" srcId="{EE70B085-C120-4838-BFB0-6445A69806AF}" destId="{0B7C6B73-5DF4-4366-8CAA-4FF48E722D90}" srcOrd="0" destOrd="0" parTransId="{30C2B754-967C-46E3-874F-E2BFF3F4429D}" sibTransId="{7871B9C5-7C30-4032-9C43-03A2326C4D8B}"/>
    <dgm:cxn modelId="{267F4D2C-4363-4FD5-BA79-B29EB54DC711}" type="presOf" srcId="{EE70B085-C120-4838-BFB0-6445A69806AF}" destId="{F41C0044-393A-4FBC-B4D3-F9635BBDE383}" srcOrd="0" destOrd="0" presId="urn:microsoft.com/office/officeart/2005/8/layout/hList9"/>
    <dgm:cxn modelId="{0886565D-40A9-4EA3-BE94-6E5CC54164E7}" type="presOf" srcId="{0604CCBB-3015-4541-AF70-C0600CE07CF8}" destId="{BE674DCC-3764-434B-9D2D-DCE360DA225D}" srcOrd="1" destOrd="0" presId="urn:microsoft.com/office/officeart/2005/8/layout/hList9"/>
    <dgm:cxn modelId="{25A62B69-DCCE-41BF-9B7F-90EC2F0F2A2D}" type="presOf" srcId="{9DDAAAE1-3FFC-43EC-A37C-AE01F7A07DA5}" destId="{A2EF95C6-1017-471D-A7CE-3D857BABB25A}" srcOrd="0" destOrd="0" presId="urn:microsoft.com/office/officeart/2005/8/layout/hList9"/>
    <dgm:cxn modelId="{B80BD172-9EDB-49AE-BEF5-90FF545A32E4}" srcId="{EE70B085-C120-4838-BFB0-6445A69806AF}" destId="{27221B82-BE08-4E65-9F2B-5A35B73A7DE0}" srcOrd="1" destOrd="0" parTransId="{DD845EBC-CB8D-46BC-BF8A-BC4659094F70}" sibTransId="{B2B3029C-32B6-42BC-943F-01E8FE7D1F88}"/>
    <dgm:cxn modelId="{9192E172-A32F-46E1-8C4A-AF58BF357AF1}" type="presOf" srcId="{0B7C6B73-5DF4-4366-8CAA-4FF48E722D90}" destId="{1DD8956C-C880-437C-B147-99F803F98DC8}" srcOrd="0" destOrd="0" presId="urn:microsoft.com/office/officeart/2005/8/layout/hList9"/>
    <dgm:cxn modelId="{79C7CF9A-E413-4250-B36E-039FF92D7CE7}" type="presOf" srcId="{2396258B-C7D2-4D09-802A-1A807E0E8D92}" destId="{45A0C5AF-796B-4891-9EB7-A8C2C776A10F}" srcOrd="0" destOrd="0" presId="urn:microsoft.com/office/officeart/2005/8/layout/hList9"/>
    <dgm:cxn modelId="{099E71A6-3BFD-463C-9DD9-53BF6242BF49}" type="presOf" srcId="{0604CCBB-3015-4541-AF70-C0600CE07CF8}" destId="{3CEB7BC0-4607-446C-8E53-DD29E652090E}" srcOrd="0" destOrd="0" presId="urn:microsoft.com/office/officeart/2005/8/layout/hList9"/>
    <dgm:cxn modelId="{7145F9B2-0F1B-4867-8D52-8E17EF12BA6F}" srcId="{EBD03908-8DB8-4939-99D5-86C5AE067850}" destId="{0604CCBB-3015-4541-AF70-C0600CE07CF8}" srcOrd="1" destOrd="0" parTransId="{DB16512C-521A-46B2-A48F-D016BF06AD6A}" sibTransId="{352BC997-A43A-4459-884D-B49AEC6F21FF}"/>
    <dgm:cxn modelId="{47E571B3-CB55-4804-B1EC-98FB32AD6505}" type="presOf" srcId="{2396258B-C7D2-4D09-802A-1A807E0E8D92}" destId="{576996E8-F54D-4F6B-9F42-6E34DD6897DE}" srcOrd="1" destOrd="0" presId="urn:microsoft.com/office/officeart/2005/8/layout/hList9"/>
    <dgm:cxn modelId="{83D992D6-A525-4FAA-8894-33C6E377AB3B}" srcId="{EBD03908-8DB8-4939-99D5-86C5AE067850}" destId="{2396258B-C7D2-4D09-802A-1A807E0E8D92}" srcOrd="0" destOrd="0" parTransId="{40A52E27-3982-4BA0-8746-94606C9194ED}" sibTransId="{DE6D729D-2C2F-482D-9B39-ED26E9107C49}"/>
    <dgm:cxn modelId="{C6CF90DB-9157-4EDE-BD54-6B363B01383F}" type="presOf" srcId="{27221B82-BE08-4E65-9F2B-5A35B73A7DE0}" destId="{15883BCD-02E1-4951-ADFC-9B381A4A06DB}" srcOrd="1" destOrd="0" presId="urn:microsoft.com/office/officeart/2005/8/layout/hList9"/>
    <dgm:cxn modelId="{32E3F5E7-87EB-48A5-A7A8-17A91197BE34}" srcId="{9DDAAAE1-3FFC-43EC-A37C-AE01F7A07DA5}" destId="{EE70B085-C120-4838-BFB0-6445A69806AF}" srcOrd="1" destOrd="0" parTransId="{AAA0ECBD-0EE5-4535-815A-B8127E9DC71B}" sibTransId="{752D4306-6BF8-415E-8C7F-13646FD2967F}"/>
    <dgm:cxn modelId="{D2B6D5EC-B921-443E-9A7C-BEB20A10C064}" type="presOf" srcId="{EBD03908-8DB8-4939-99D5-86C5AE067850}" destId="{65825059-EA62-4A80-B67A-CDA867F80CF1}" srcOrd="0" destOrd="0" presId="urn:microsoft.com/office/officeart/2005/8/layout/hList9"/>
    <dgm:cxn modelId="{FE900C4A-594A-4D3B-AADA-3F0807C5C876}" type="presParOf" srcId="{A2EF95C6-1017-471D-A7CE-3D857BABB25A}" destId="{64D2ABEC-13A1-4A5C-A4E9-48AB70BBA23A}" srcOrd="0" destOrd="0" presId="urn:microsoft.com/office/officeart/2005/8/layout/hList9"/>
    <dgm:cxn modelId="{3E8ADF60-BC44-4D2C-B437-93DD60BE4B85}" type="presParOf" srcId="{A2EF95C6-1017-471D-A7CE-3D857BABB25A}" destId="{23793EFF-2A04-49BE-8B57-696780807C71}" srcOrd="1" destOrd="0" presId="urn:microsoft.com/office/officeart/2005/8/layout/hList9"/>
    <dgm:cxn modelId="{87B88C35-1A89-43B0-A1ED-2296B9E26ADC}" type="presParOf" srcId="{23793EFF-2A04-49BE-8B57-696780807C71}" destId="{009A8ADA-BAAA-4AFA-89DC-A3AB4D2CB097}" srcOrd="0" destOrd="0" presId="urn:microsoft.com/office/officeart/2005/8/layout/hList9"/>
    <dgm:cxn modelId="{E0768890-7110-4030-848A-C214C029EA50}" type="presParOf" srcId="{23793EFF-2A04-49BE-8B57-696780807C71}" destId="{77E64216-6E0B-4D71-9657-A022E606E94F}" srcOrd="1" destOrd="0" presId="urn:microsoft.com/office/officeart/2005/8/layout/hList9"/>
    <dgm:cxn modelId="{A140FBB7-3F96-4E8A-A415-BFC7F942231D}" type="presParOf" srcId="{77E64216-6E0B-4D71-9657-A022E606E94F}" destId="{45A0C5AF-796B-4891-9EB7-A8C2C776A10F}" srcOrd="0" destOrd="0" presId="urn:microsoft.com/office/officeart/2005/8/layout/hList9"/>
    <dgm:cxn modelId="{D3C87618-2D73-4670-B789-171F3618D81E}" type="presParOf" srcId="{77E64216-6E0B-4D71-9657-A022E606E94F}" destId="{576996E8-F54D-4F6B-9F42-6E34DD6897DE}" srcOrd="1" destOrd="0" presId="urn:microsoft.com/office/officeart/2005/8/layout/hList9"/>
    <dgm:cxn modelId="{1BB2FB18-BB2B-43CC-B164-C9E1B2626F72}" type="presParOf" srcId="{23793EFF-2A04-49BE-8B57-696780807C71}" destId="{2FCC79D9-E3AD-4C6F-83CF-3DE3E0D3D0E2}" srcOrd="2" destOrd="0" presId="urn:microsoft.com/office/officeart/2005/8/layout/hList9"/>
    <dgm:cxn modelId="{B3C38B46-0A12-4EF2-8D3B-19B749972116}" type="presParOf" srcId="{2FCC79D9-E3AD-4C6F-83CF-3DE3E0D3D0E2}" destId="{3CEB7BC0-4607-446C-8E53-DD29E652090E}" srcOrd="0" destOrd="0" presId="urn:microsoft.com/office/officeart/2005/8/layout/hList9"/>
    <dgm:cxn modelId="{6B7D6FB6-203A-497B-A822-64C37CFF6735}" type="presParOf" srcId="{2FCC79D9-E3AD-4C6F-83CF-3DE3E0D3D0E2}" destId="{BE674DCC-3764-434B-9D2D-DCE360DA225D}" srcOrd="1" destOrd="0" presId="urn:microsoft.com/office/officeart/2005/8/layout/hList9"/>
    <dgm:cxn modelId="{B566C6D5-C10E-4C55-B369-2BB7841563C7}" type="presParOf" srcId="{A2EF95C6-1017-471D-A7CE-3D857BABB25A}" destId="{C0E360D5-982C-4692-B94C-03FB0B932091}" srcOrd="2" destOrd="0" presId="urn:microsoft.com/office/officeart/2005/8/layout/hList9"/>
    <dgm:cxn modelId="{1F8FFE19-3E7C-4883-95C1-545E71BBD146}" type="presParOf" srcId="{A2EF95C6-1017-471D-A7CE-3D857BABB25A}" destId="{65825059-EA62-4A80-B67A-CDA867F80CF1}" srcOrd="3" destOrd="0" presId="urn:microsoft.com/office/officeart/2005/8/layout/hList9"/>
    <dgm:cxn modelId="{6A7ECB78-B1E7-4AAB-9D0F-92AA11693A91}" type="presParOf" srcId="{A2EF95C6-1017-471D-A7CE-3D857BABB25A}" destId="{57845C4C-3E8C-4157-86CE-ADDBCEE5217F}" srcOrd="4" destOrd="0" presId="urn:microsoft.com/office/officeart/2005/8/layout/hList9"/>
    <dgm:cxn modelId="{AC852011-429C-4673-8E62-49A3666DBEC7}" type="presParOf" srcId="{A2EF95C6-1017-471D-A7CE-3D857BABB25A}" destId="{54794665-4F17-4044-A8E1-4B635A49B8A6}" srcOrd="5" destOrd="0" presId="urn:microsoft.com/office/officeart/2005/8/layout/hList9"/>
    <dgm:cxn modelId="{270B44A1-A8EB-45AC-B479-153BF4E52230}" type="presParOf" srcId="{A2EF95C6-1017-471D-A7CE-3D857BABB25A}" destId="{8046380B-45B2-4BB8-87CB-F9D2FB3C8198}" srcOrd="6" destOrd="0" presId="urn:microsoft.com/office/officeart/2005/8/layout/hList9"/>
    <dgm:cxn modelId="{36940680-7B61-43B8-85EB-761E57392B43}" type="presParOf" srcId="{8046380B-45B2-4BB8-87CB-F9D2FB3C8198}" destId="{5BED3764-4E0B-43A3-8383-BDFFD1DCD268}" srcOrd="0" destOrd="0" presId="urn:microsoft.com/office/officeart/2005/8/layout/hList9"/>
    <dgm:cxn modelId="{1E924D70-4C6C-4958-A586-5AB2CBE0EAEC}" type="presParOf" srcId="{8046380B-45B2-4BB8-87CB-F9D2FB3C8198}" destId="{247EC75E-BE22-4CF7-A7F8-50622D116F45}" srcOrd="1" destOrd="0" presId="urn:microsoft.com/office/officeart/2005/8/layout/hList9"/>
    <dgm:cxn modelId="{B6C97C89-439B-4C7E-A556-C07541F7F7C5}" type="presParOf" srcId="{247EC75E-BE22-4CF7-A7F8-50622D116F45}" destId="{1DD8956C-C880-437C-B147-99F803F98DC8}" srcOrd="0" destOrd="0" presId="urn:microsoft.com/office/officeart/2005/8/layout/hList9"/>
    <dgm:cxn modelId="{F0322EC3-EAAA-47A5-952A-6B012C0383B3}" type="presParOf" srcId="{247EC75E-BE22-4CF7-A7F8-50622D116F45}" destId="{FD21FD10-AE53-4B1B-B12C-FAD3455F75DD}" srcOrd="1" destOrd="0" presId="urn:microsoft.com/office/officeart/2005/8/layout/hList9"/>
    <dgm:cxn modelId="{E26A2D8D-E99D-444E-8C33-4838A4CAF2B7}" type="presParOf" srcId="{8046380B-45B2-4BB8-87CB-F9D2FB3C8198}" destId="{73C1E097-CF4B-4932-BFD5-9CD94D1FE621}" srcOrd="2" destOrd="0" presId="urn:microsoft.com/office/officeart/2005/8/layout/hList9"/>
    <dgm:cxn modelId="{9EA7CDD7-E34E-4FEB-9366-581D25BBCF88}" type="presParOf" srcId="{73C1E097-CF4B-4932-BFD5-9CD94D1FE621}" destId="{33067B1B-C9E5-483C-A5DD-FB0A821D7561}" srcOrd="0" destOrd="0" presId="urn:microsoft.com/office/officeart/2005/8/layout/hList9"/>
    <dgm:cxn modelId="{0183B536-5186-46BB-992B-0E438F8A2BC0}" type="presParOf" srcId="{73C1E097-CF4B-4932-BFD5-9CD94D1FE621}" destId="{15883BCD-02E1-4951-ADFC-9B381A4A06DB}" srcOrd="1" destOrd="0" presId="urn:microsoft.com/office/officeart/2005/8/layout/hList9"/>
    <dgm:cxn modelId="{9DD64D47-3D8D-41B1-BB91-DFFCB3941640}" type="presParOf" srcId="{A2EF95C6-1017-471D-A7CE-3D857BABB25A}" destId="{6670825E-17B8-4C55-94FA-2121B16FC047}" srcOrd="7" destOrd="0" presId="urn:microsoft.com/office/officeart/2005/8/layout/hList9"/>
    <dgm:cxn modelId="{5849317E-8B18-4CE8-BE3E-F54B2589F0B3}" type="presParOf" srcId="{A2EF95C6-1017-471D-A7CE-3D857BABB25A}" destId="{F41C0044-393A-4FBC-B4D3-F9635BBDE383}" srcOrd="8" destOrd="0" presId="urn:microsoft.com/office/officeart/2005/8/layout/hList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2000" b="1" dirty="0">
              <a:solidFill>
                <a:srgbClr val="FFFF00"/>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dirty="0"/>
            <a:t>Sport</a:t>
          </a:r>
          <a:endParaRPr lang="en-US" sz="1400" b="0" dirty="0">
            <a:solidFill>
              <a:schemeClr val="bg1"/>
            </a:solidFill>
          </a:endParaRP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600" b="1" dirty="0">
              <a:solidFill>
                <a:srgbClr val="F4EE00"/>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dirty="0"/>
            <a:t>Sport</a:t>
          </a:r>
          <a:endParaRPr lang="en-US" sz="1400" b="0" dirty="0">
            <a:solidFill>
              <a:schemeClr val="bg1"/>
            </a:solidFill>
          </a:endParaRP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2000" b="1" dirty="0">
              <a:solidFill>
                <a:srgbClr val="F4EE00"/>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2000" b="1" dirty="0">
              <a:solidFill>
                <a:srgbClr val="F4EE00"/>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800" b="1" dirty="0">
              <a:solidFill>
                <a:srgbClr val="F4EE00"/>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800" b="1" dirty="0">
              <a:solidFill>
                <a:srgbClr val="F4EE00"/>
              </a:solidFill>
            </a:rPr>
            <a:t>KYC &amp; </a:t>
          </a:r>
          <a:r>
            <a:rPr lang="en-US" sz="1100" b="1" dirty="0">
              <a:solidFill>
                <a:srgbClr val="F4EE00"/>
              </a:solidFill>
            </a:rPr>
            <a:t>Payments</a:t>
          </a:r>
          <a:endParaRPr lang="en-US" sz="1600" b="1" dirty="0">
            <a:solidFill>
              <a:srgbClr val="F4EE00"/>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800" b="1" dirty="0">
              <a:solidFill>
                <a:srgbClr val="F4EE00"/>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100" b="1" dirty="0">
              <a:solidFill>
                <a:srgbClr val="F4EE00"/>
              </a:solidFill>
            </a:rPr>
            <a:t>Marketing</a:t>
          </a: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1" dirty="0">
              <a:solidFill>
                <a:srgbClr val="F4EE00"/>
              </a:solidFill>
            </a:rPr>
            <a:t>Project </a:t>
          </a:r>
          <a:r>
            <a:rPr lang="en-US" sz="800" b="1" dirty="0">
              <a:solidFill>
                <a:srgbClr val="F4EE00"/>
              </a:solidFill>
            </a:rPr>
            <a:t>management</a:t>
          </a:r>
          <a:endParaRPr lang="en-US" sz="1400" b="1" dirty="0">
            <a:solidFill>
              <a:srgbClr val="F4EE00"/>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600" b="1" dirty="0">
              <a:solidFill>
                <a:srgbClr val="F4EE00"/>
              </a:solidFill>
            </a:rPr>
            <a:t>Poker, Svara &amp; </a:t>
          </a:r>
          <a:r>
            <a:rPr lang="en-US" sz="1600" b="1" dirty="0" err="1">
              <a:solidFill>
                <a:srgbClr val="F4EE00"/>
              </a:solidFill>
            </a:rPr>
            <a:t>Tabla</a:t>
          </a:r>
          <a:endParaRPr lang="en-US" sz="1600" b="1" dirty="0">
            <a:solidFill>
              <a:srgbClr val="F4EE00"/>
            </a:solidFill>
          </a:endParaRPr>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b="0" dirty="0">
            <a:solidFill>
              <a:schemeClr val="bg1"/>
            </a:solidFill>
          </a:endParaRPr>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600" b="1" dirty="0">
              <a:solidFill>
                <a:srgbClr val="F4EE00"/>
              </a:solidFill>
            </a:rPr>
            <a:t>Admin</a:t>
          </a:r>
          <a:endParaRPr lang="en-US" sz="1400" b="1" dirty="0">
            <a:solidFill>
              <a:srgbClr val="F4EE00"/>
            </a:solidFill>
          </a:endParaRPr>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t>COO</a:t>
          </a:r>
          <a:endParaRPr lang="en-US" sz="1400" dirty="0"/>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dirty="0"/>
            <a:t>CFO</a:t>
          </a:r>
          <a:endParaRPr lang="en-US" sz="1400" dirty="0"/>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800" b="1" dirty="0">
              <a:solidFill>
                <a:srgbClr val="F4EE00"/>
              </a:solidFill>
            </a:rPr>
            <a:t>CEO</a:t>
          </a:r>
          <a:endParaRPr lang="en-US" sz="1800" b="1" dirty="0">
            <a:solidFill>
              <a:srgbClr val="F4EE00"/>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5E21344B-A528-48D3-BB92-FF29C4731305}">
      <dgm:prSet phldrT="[Text]" phldr="0" custT="1"/>
      <dgm:spPr/>
      <dgm:t>
        <a:bodyPr/>
        <a:lstStyle/>
        <a:p>
          <a:r>
            <a:rPr lang="en-US" sz="2000" dirty="0"/>
            <a:t>CMO</a:t>
          </a:r>
        </a:p>
      </dgm:t>
    </dgm:pt>
    <dgm:pt modelId="{B58293B0-8537-426F-B12E-DA017EC31011}" type="parTrans" cxnId="{4A132EE4-D242-4847-ABEC-EDAE203BC67D}">
      <dgm:prSet/>
      <dgm:spPr/>
      <dgm:t>
        <a:bodyPr/>
        <a:lstStyle/>
        <a:p>
          <a:endParaRPr lang="en-US"/>
        </a:p>
      </dgm:t>
    </dgm:pt>
    <dgm:pt modelId="{89B5B7B0-8298-445A-AD8D-2F1825E685A3}" type="sibTrans" cxnId="{4A132EE4-D242-4847-ABEC-EDAE203BC67D}">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E9251F9D-8996-4471-9F39-FFC45CA5427A}" type="pres">
      <dgm:prSet presAssocID="{B58293B0-8537-426F-B12E-DA017EC31011}" presName="parTrans" presStyleLbl="sibTrans2D1" presStyleIdx="3" presStyleCnt="4"/>
      <dgm:spPr/>
    </dgm:pt>
    <dgm:pt modelId="{7357AAAD-A173-4D76-BD03-1E1118214655}" type="pres">
      <dgm:prSet presAssocID="{B58293B0-8537-426F-B12E-DA017EC31011}" presName="connectorText" presStyleLbl="sibTrans2D1" presStyleIdx="3" presStyleCnt="4"/>
      <dgm:spPr/>
    </dgm:pt>
    <dgm:pt modelId="{686DAC8A-50C1-402B-8F1B-55411E40802C}" type="pres">
      <dgm:prSet presAssocID="{5E21344B-A528-48D3-BB92-FF29C4731305}" presName="node" presStyleLbl="node1" presStyleIdx="3" presStyleCnt="4">
        <dgm:presLayoutVars>
          <dgm:bulletEnabled val="1"/>
        </dgm:presLayoutVars>
      </dgm:prSet>
      <dgm:spPr/>
    </dgm:pt>
  </dgm:ptLst>
  <dgm:cxnLst>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4159C242-D56C-4A10-AE35-CEFE94A3E477}" type="presOf" srcId="{5E21344B-A528-48D3-BB92-FF29C4731305}" destId="{686DAC8A-50C1-402B-8F1B-55411E40802C}" srcOrd="0" destOrd="0" presId="urn:microsoft.com/office/officeart/2005/8/layout/radial5"/>
    <dgm:cxn modelId="{4E887256-6C15-4049-A3DD-A72370059EC6}" type="presOf" srcId="{B58293B0-8537-426F-B12E-DA017EC31011}" destId="{E9251F9D-8996-4471-9F39-FFC45CA5427A}"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7A65039D-C75C-47FB-B241-0BAF005E6BA0}" type="presOf" srcId="{B58293B0-8537-426F-B12E-DA017EC31011}" destId="{7357AAAD-A173-4D76-BD03-1E1118214655}" srcOrd="1" destOrd="0" presId="urn:microsoft.com/office/officeart/2005/8/layout/radial5"/>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4A132EE4-D242-4847-ABEC-EDAE203BC67D}" srcId="{9929AD75-085F-4B65-BE7D-933E99C23ADC}" destId="{5E21344B-A528-48D3-BB92-FF29C4731305}" srcOrd="3" destOrd="0" parTransId="{B58293B0-8537-426F-B12E-DA017EC31011}" sibTransId="{89B5B7B0-8298-445A-AD8D-2F1825E685A3}"/>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544AF1DD-C4A3-47BC-89FD-E7471E717781}" type="presParOf" srcId="{66264EE3-C320-457F-9C97-C575D55BC6B4}" destId="{E9251F9D-8996-4471-9F39-FFC45CA5427A}" srcOrd="7" destOrd="0" presId="urn:microsoft.com/office/officeart/2005/8/layout/radial5"/>
    <dgm:cxn modelId="{82AC4858-397B-47C3-8FF7-EFEC136BD148}" type="presParOf" srcId="{E9251F9D-8996-4471-9F39-FFC45CA5427A}" destId="{7357AAAD-A173-4D76-BD03-1E1118214655}" srcOrd="0" destOrd="0" presId="urn:microsoft.com/office/officeart/2005/8/layout/radial5"/>
    <dgm:cxn modelId="{42A64C25-5ADC-4820-B67E-93BC01126445}" type="presParOf" srcId="{66264EE3-C320-457F-9C97-C575D55BC6B4}" destId="{686DAC8A-50C1-402B-8F1B-55411E40802C}"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800" b="1" dirty="0">
              <a:solidFill>
                <a:srgbClr val="F4EE00"/>
              </a:solidFill>
            </a:rPr>
            <a:t>COO</a:t>
          </a:r>
          <a:endParaRPr lang="en-US" sz="1400" b="1" dirty="0">
            <a:solidFill>
              <a:srgbClr val="F4EE00"/>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a:t>CFO</a:t>
          </a:r>
          <a:endParaRPr lang="en-US" sz="1400" dirty="0"/>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ECBBF66A-6CAD-4C5F-B325-BD8BF1E98119}">
      <dgm:prSet phldrT="[Text]" phldr="0" custT="1"/>
      <dgm:spPr/>
      <dgm:t>
        <a:bodyPr/>
        <a:lstStyle/>
        <a:p>
          <a:r>
            <a:rPr lang="en-US" sz="2000" dirty="0"/>
            <a:t>CMO</a:t>
          </a:r>
        </a:p>
      </dgm:t>
    </dgm:pt>
    <dgm:pt modelId="{158E2531-857C-465C-B7FE-296A0B8C066B}" type="parTrans" cxnId="{EF91EAAE-C136-443C-9045-0E9F2D21DAA2}">
      <dgm:prSet/>
      <dgm:spPr/>
      <dgm:t>
        <a:bodyPr/>
        <a:lstStyle/>
        <a:p>
          <a:endParaRPr lang="en-US"/>
        </a:p>
      </dgm:t>
    </dgm:pt>
    <dgm:pt modelId="{63299139-6490-4AF5-BE52-2B0B1480079F}" type="sibTrans" cxnId="{EF91EAAE-C136-443C-9045-0E9F2D21DAA2}">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51CBBC31-EA09-437E-A065-5DFB13A2D7E8}" type="pres">
      <dgm:prSet presAssocID="{158E2531-857C-465C-B7FE-296A0B8C066B}" presName="parTrans" presStyleLbl="sibTrans2D1" presStyleIdx="3" presStyleCnt="4"/>
      <dgm:spPr/>
    </dgm:pt>
    <dgm:pt modelId="{356B7E45-D52E-4D60-9F70-3B78D5F0AD8B}" type="pres">
      <dgm:prSet presAssocID="{158E2531-857C-465C-B7FE-296A0B8C066B}" presName="connectorText" presStyleLbl="sibTrans2D1" presStyleIdx="3" presStyleCnt="4"/>
      <dgm:spPr/>
    </dgm:pt>
    <dgm:pt modelId="{D13ECB7A-86D9-4B02-B3EC-1A28C2083312}" type="pres">
      <dgm:prSet presAssocID="{ECBBF66A-6CAD-4C5F-B325-BD8BF1E98119}" presName="node" presStyleLbl="node1" presStyleIdx="3" presStyleCnt="4">
        <dgm:presLayoutVars>
          <dgm:bulletEnabled val="1"/>
        </dgm:presLayoutVars>
      </dgm:prSet>
      <dgm:spPr/>
    </dgm:pt>
  </dgm:ptLst>
  <dgm:cxnLst>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1C6D66B-3D21-44BC-AA52-3B217E64163D}" type="presOf" srcId="{ECBBF66A-6CAD-4C5F-B325-BD8BF1E98119}" destId="{D13ECB7A-86D9-4B02-B3EC-1A28C2083312}" srcOrd="0" destOrd="0" presId="urn:microsoft.com/office/officeart/2005/8/layout/radial5"/>
    <dgm:cxn modelId="{5DD0B979-975F-42A5-88B5-B18CA80E97B7}" type="presOf" srcId="{158E2531-857C-465C-B7FE-296A0B8C066B}" destId="{51CBBC31-EA09-437E-A065-5DFB13A2D7E8}"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32B66D7B-72A1-44E9-9550-6E3486FE9C6A}" type="presOf" srcId="{158E2531-857C-465C-B7FE-296A0B8C066B}" destId="{356B7E45-D52E-4D60-9F70-3B78D5F0AD8B}" srcOrd="1"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EF91EAAE-C136-443C-9045-0E9F2D21DAA2}" srcId="{9929AD75-085F-4B65-BE7D-933E99C23ADC}" destId="{ECBBF66A-6CAD-4C5F-B325-BD8BF1E98119}" srcOrd="3" destOrd="0" parTransId="{158E2531-857C-465C-B7FE-296A0B8C066B}" sibTransId="{63299139-6490-4AF5-BE52-2B0B1480079F}"/>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532FC903-FA34-464E-A7F4-E538C166BFB2}" type="presParOf" srcId="{66264EE3-C320-457F-9C97-C575D55BC6B4}" destId="{51CBBC31-EA09-437E-A065-5DFB13A2D7E8}" srcOrd="7" destOrd="0" presId="urn:microsoft.com/office/officeart/2005/8/layout/radial5"/>
    <dgm:cxn modelId="{6B77704E-DA60-45CF-85D6-75F13A8EC244}" type="presParOf" srcId="{51CBBC31-EA09-437E-A065-5DFB13A2D7E8}" destId="{356B7E45-D52E-4D60-9F70-3B78D5F0AD8B}" srcOrd="0" destOrd="0" presId="urn:microsoft.com/office/officeart/2005/8/layout/radial5"/>
    <dgm:cxn modelId="{7A0C77EA-662E-4843-A2E3-89C465370722}" type="presParOf" srcId="{66264EE3-C320-457F-9C97-C575D55BC6B4}" destId="{D13ECB7A-86D9-4B02-B3EC-1A28C2083312}"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solidFill>
                <a:schemeClr val="bg1"/>
              </a:solidFill>
            </a:rPr>
            <a:t>COO</a:t>
          </a:r>
          <a:endParaRPr lang="en-US" sz="1400" dirty="0">
            <a:solidFill>
              <a:schemeClr val="bg1"/>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800" b="1" dirty="0">
              <a:solidFill>
                <a:srgbClr val="F4EE00"/>
              </a:solidFill>
            </a:rPr>
            <a:t>CFO</a:t>
          </a:r>
          <a:endParaRPr lang="en-US" sz="1400" b="1" dirty="0">
            <a:solidFill>
              <a:srgbClr val="F4EE00"/>
            </a:solidFill>
          </a:endParaRPr>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78C49AE9-EEA5-4201-BD62-36353905D25F}">
      <dgm:prSet phldrT="[Text]" phldr="0" custT="1"/>
      <dgm:spPr/>
      <dgm:t>
        <a:bodyPr/>
        <a:lstStyle/>
        <a:p>
          <a:r>
            <a:rPr lang="en-US" sz="2000" b="0" dirty="0">
              <a:solidFill>
                <a:schemeClr val="bg1"/>
              </a:solidFill>
            </a:rPr>
            <a:t>CMO</a:t>
          </a:r>
          <a:endParaRPr lang="en-US" sz="1400" b="0" dirty="0">
            <a:solidFill>
              <a:schemeClr val="bg1"/>
            </a:solidFill>
          </a:endParaRPr>
        </a:p>
      </dgm:t>
    </dgm:pt>
    <dgm:pt modelId="{9C1C45C0-B1CC-426F-9B27-F1E967664A88}" type="parTrans" cxnId="{56CDED0D-3375-4AD6-A267-60622F87E465}">
      <dgm:prSet/>
      <dgm:spPr/>
      <dgm:t>
        <a:bodyPr/>
        <a:lstStyle/>
        <a:p>
          <a:endParaRPr lang="en-US"/>
        </a:p>
      </dgm:t>
    </dgm:pt>
    <dgm:pt modelId="{6091D234-C527-41D7-8ABA-01051ECE21BE}" type="sibTrans" cxnId="{56CDED0D-3375-4AD6-A267-60622F87E465}">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C0BA0A2F-9019-4CCA-9510-7803AF5E9484}" type="pres">
      <dgm:prSet presAssocID="{9C1C45C0-B1CC-426F-9B27-F1E967664A88}" presName="parTrans" presStyleLbl="sibTrans2D1" presStyleIdx="3" presStyleCnt="4"/>
      <dgm:spPr/>
    </dgm:pt>
    <dgm:pt modelId="{74C82DD0-E0E2-4E4F-AC27-55E4CAC191B1}" type="pres">
      <dgm:prSet presAssocID="{9C1C45C0-B1CC-426F-9B27-F1E967664A88}" presName="connectorText" presStyleLbl="sibTrans2D1" presStyleIdx="3" presStyleCnt="4"/>
      <dgm:spPr/>
    </dgm:pt>
    <dgm:pt modelId="{F0F79613-3DAD-46C5-8ADA-25779C241E8E}" type="pres">
      <dgm:prSet presAssocID="{78C49AE9-EEA5-4201-BD62-36353905D25F}" presName="node" presStyleLbl="node1" presStyleIdx="3" presStyleCnt="4">
        <dgm:presLayoutVars>
          <dgm:bulletEnabled val="1"/>
        </dgm:presLayoutVars>
      </dgm:prSet>
      <dgm:spPr/>
    </dgm:pt>
  </dgm:ptLst>
  <dgm:cxnLst>
    <dgm:cxn modelId="{56CDED0D-3375-4AD6-A267-60622F87E465}" srcId="{9929AD75-085F-4B65-BE7D-933E99C23ADC}" destId="{78C49AE9-EEA5-4201-BD62-36353905D25F}" srcOrd="3" destOrd="0" parTransId="{9C1C45C0-B1CC-426F-9B27-F1E967664A88}" sibTransId="{6091D234-C527-41D7-8ABA-01051ECE21BE}"/>
    <dgm:cxn modelId="{67FE130F-313E-4E4B-BE29-A285E578EAE0}" type="presOf" srcId="{9C1C45C0-B1CC-426F-9B27-F1E967664A88}" destId="{74C82DD0-E0E2-4E4F-AC27-55E4CAC191B1}" srcOrd="1" destOrd="0" presId="urn:microsoft.com/office/officeart/2005/8/layout/radial5"/>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7D55464-4F51-44EB-8718-0DE6FAF90BC0}" type="presOf" srcId="{78C49AE9-EEA5-4201-BD62-36353905D25F}" destId="{F0F79613-3DAD-46C5-8ADA-25779C241E8E}" srcOrd="0" destOrd="0" presId="urn:microsoft.com/office/officeart/2005/8/layout/radial5"/>
    <dgm:cxn modelId="{98D8C279-2BA2-4789-B232-8A4634BF2A30}" type="presOf" srcId="{9C1C45C0-B1CC-426F-9B27-F1E967664A88}" destId="{C0BA0A2F-9019-4CCA-9510-7803AF5E9484}"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4F32378D-369B-432D-B020-2903B15E3D44}" type="presParOf" srcId="{66264EE3-C320-457F-9C97-C575D55BC6B4}" destId="{C0BA0A2F-9019-4CCA-9510-7803AF5E9484}" srcOrd="7" destOrd="0" presId="urn:microsoft.com/office/officeart/2005/8/layout/radial5"/>
    <dgm:cxn modelId="{B6C7F411-E681-492D-AAE3-776040B885B0}" type="presParOf" srcId="{C0BA0A2F-9019-4CCA-9510-7803AF5E9484}" destId="{74C82DD0-E0E2-4E4F-AC27-55E4CAC191B1}" srcOrd="0" destOrd="0" presId="urn:microsoft.com/office/officeart/2005/8/layout/radial5"/>
    <dgm:cxn modelId="{9B9F60F8-2F63-4539-B6AA-4D4639D92BB1}" type="presParOf" srcId="{66264EE3-C320-457F-9C97-C575D55BC6B4}" destId="{F0F79613-3DAD-46C5-8ADA-25779C241E8E}"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solidFill>
                <a:schemeClr val="bg1"/>
              </a:solidFill>
            </a:rPr>
            <a:t>COO</a:t>
          </a:r>
          <a:endParaRPr lang="en-US" sz="1400" dirty="0">
            <a:solidFill>
              <a:schemeClr val="bg1"/>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kern="1200" dirty="0">
              <a:solidFill>
                <a:prstClr val="white"/>
              </a:solidFill>
              <a:latin typeface="Trebuchet MS" panose="020B0603020202020204"/>
              <a:ea typeface="+mn-ea"/>
              <a:cs typeface="+mn-cs"/>
            </a:rPr>
            <a:t>CFO</a:t>
          </a:r>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78C49AE9-EEA5-4201-BD62-36353905D25F}">
      <dgm:prSet phldrT="[Text]" phldr="0" custT="1"/>
      <dgm:spPr/>
      <dgm:t>
        <a:bodyPr/>
        <a:lstStyle/>
        <a:p>
          <a:r>
            <a:rPr lang="en-US" sz="2800" b="1" kern="1200" dirty="0">
              <a:solidFill>
                <a:srgbClr val="F4EE00"/>
              </a:solidFill>
              <a:latin typeface="Trebuchet MS" panose="020B0603020202020204"/>
              <a:ea typeface="+mn-ea"/>
              <a:cs typeface="+mn-cs"/>
            </a:rPr>
            <a:t>CMO</a:t>
          </a:r>
        </a:p>
      </dgm:t>
    </dgm:pt>
    <dgm:pt modelId="{9C1C45C0-B1CC-426F-9B27-F1E967664A88}" type="parTrans" cxnId="{56CDED0D-3375-4AD6-A267-60622F87E465}">
      <dgm:prSet/>
      <dgm:spPr/>
      <dgm:t>
        <a:bodyPr/>
        <a:lstStyle/>
        <a:p>
          <a:endParaRPr lang="en-US"/>
        </a:p>
      </dgm:t>
    </dgm:pt>
    <dgm:pt modelId="{6091D234-C527-41D7-8ABA-01051ECE21BE}" type="sibTrans" cxnId="{56CDED0D-3375-4AD6-A267-60622F87E465}">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C0BA0A2F-9019-4CCA-9510-7803AF5E9484}" type="pres">
      <dgm:prSet presAssocID="{9C1C45C0-B1CC-426F-9B27-F1E967664A88}" presName="parTrans" presStyleLbl="sibTrans2D1" presStyleIdx="3" presStyleCnt="4"/>
      <dgm:spPr/>
    </dgm:pt>
    <dgm:pt modelId="{74C82DD0-E0E2-4E4F-AC27-55E4CAC191B1}" type="pres">
      <dgm:prSet presAssocID="{9C1C45C0-B1CC-426F-9B27-F1E967664A88}" presName="connectorText" presStyleLbl="sibTrans2D1" presStyleIdx="3" presStyleCnt="4"/>
      <dgm:spPr/>
    </dgm:pt>
    <dgm:pt modelId="{F0F79613-3DAD-46C5-8ADA-25779C241E8E}" type="pres">
      <dgm:prSet presAssocID="{78C49AE9-EEA5-4201-BD62-36353905D25F}" presName="node" presStyleLbl="node1" presStyleIdx="3" presStyleCnt="4">
        <dgm:presLayoutVars>
          <dgm:bulletEnabled val="1"/>
        </dgm:presLayoutVars>
      </dgm:prSet>
      <dgm:spPr/>
    </dgm:pt>
  </dgm:ptLst>
  <dgm:cxnLst>
    <dgm:cxn modelId="{56CDED0D-3375-4AD6-A267-60622F87E465}" srcId="{9929AD75-085F-4B65-BE7D-933E99C23ADC}" destId="{78C49AE9-EEA5-4201-BD62-36353905D25F}" srcOrd="3" destOrd="0" parTransId="{9C1C45C0-B1CC-426F-9B27-F1E967664A88}" sibTransId="{6091D234-C527-41D7-8ABA-01051ECE21BE}"/>
    <dgm:cxn modelId="{67FE130F-313E-4E4B-BE29-A285E578EAE0}" type="presOf" srcId="{9C1C45C0-B1CC-426F-9B27-F1E967664A88}" destId="{74C82DD0-E0E2-4E4F-AC27-55E4CAC191B1}" srcOrd="1" destOrd="0" presId="urn:microsoft.com/office/officeart/2005/8/layout/radial5"/>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7D55464-4F51-44EB-8718-0DE6FAF90BC0}" type="presOf" srcId="{78C49AE9-EEA5-4201-BD62-36353905D25F}" destId="{F0F79613-3DAD-46C5-8ADA-25779C241E8E}" srcOrd="0" destOrd="0" presId="urn:microsoft.com/office/officeart/2005/8/layout/radial5"/>
    <dgm:cxn modelId="{98D8C279-2BA2-4789-B232-8A4634BF2A30}" type="presOf" srcId="{9C1C45C0-B1CC-426F-9B27-F1E967664A88}" destId="{C0BA0A2F-9019-4CCA-9510-7803AF5E9484}"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4F32378D-369B-432D-B020-2903B15E3D44}" type="presParOf" srcId="{66264EE3-C320-457F-9C97-C575D55BC6B4}" destId="{C0BA0A2F-9019-4CCA-9510-7803AF5E9484}" srcOrd="7" destOrd="0" presId="urn:microsoft.com/office/officeart/2005/8/layout/radial5"/>
    <dgm:cxn modelId="{B6C7F411-E681-492D-AAE3-776040B885B0}" type="presParOf" srcId="{C0BA0A2F-9019-4CCA-9510-7803AF5E9484}" destId="{74C82DD0-E0E2-4E4F-AC27-55E4CAC191B1}" srcOrd="0" destOrd="0" presId="urn:microsoft.com/office/officeart/2005/8/layout/radial5"/>
    <dgm:cxn modelId="{9B9F60F8-2F63-4539-B6AA-4D4639D92BB1}" type="presParOf" srcId="{66264EE3-C320-457F-9C97-C575D55BC6B4}" destId="{F0F79613-3DAD-46C5-8ADA-25779C241E8E}"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DCC58B4-1429-4AFE-BBEA-4C75043548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A3E5C69-D1A5-44FD-839F-EC8BD25DD32B}">
      <dgm:prSet phldrT="[Text]" custT="1"/>
      <dgm:spPr/>
      <dgm:t>
        <a:bodyPr/>
        <a:lstStyle/>
        <a:p>
          <a:r>
            <a:rPr lang="en-US" sz="2400" dirty="0"/>
            <a:t>Best practices – </a:t>
          </a:r>
          <a:r>
            <a:rPr lang="en-US" sz="2400" b="1"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Jira</a:t>
          </a:r>
          <a:r>
            <a:rPr lang="en-US" sz="2400" dirty="0">
              <a:solidFill>
                <a:srgbClr val="F4EE00"/>
              </a:solidFill>
            </a:rPr>
            <a:t>  </a:t>
          </a:r>
        </a:p>
      </dgm:t>
    </dgm:pt>
    <dgm:pt modelId="{982DCB17-E8D6-40C7-ABD9-0AA43A62BC11}" type="parTrans" cxnId="{26754A00-D8ED-4CE0-A4D7-C97ED56393AB}">
      <dgm:prSet/>
      <dgm:spPr/>
      <dgm:t>
        <a:bodyPr/>
        <a:lstStyle/>
        <a:p>
          <a:endParaRPr lang="en-US"/>
        </a:p>
      </dgm:t>
    </dgm:pt>
    <dgm:pt modelId="{4AB4FE98-112B-416C-A711-7F26D0933335}" type="sibTrans" cxnId="{26754A00-D8ED-4CE0-A4D7-C97ED56393AB}">
      <dgm:prSet/>
      <dgm:spPr/>
      <dgm:t>
        <a:bodyPr/>
        <a:lstStyle/>
        <a:p>
          <a:endParaRPr lang="en-US"/>
        </a:p>
      </dgm:t>
    </dgm:pt>
    <dgm:pt modelId="{E65FF145-9B4C-4D29-93A6-824C62CAC9C7}">
      <dgm:prSet phldrT="[Text]" custT="1"/>
      <dgm:spPr/>
      <dgm:t>
        <a:bodyPr/>
        <a:lstStyle/>
        <a:p>
          <a:pPr>
            <a:buNone/>
          </a:pPr>
          <a:r>
            <a:rPr lang="en-US" sz="1800" b="1" dirty="0"/>
            <a:t>Start of Shift:</a:t>
          </a:r>
          <a:endParaRPr lang="en-US" sz="1800" dirty="0"/>
        </a:p>
      </dgm:t>
    </dgm:pt>
    <dgm:pt modelId="{B6C10A05-499B-4587-817F-9392DB9F23FA}" type="parTrans" cxnId="{EEB784B3-DE2E-4A1C-8BE0-00CB2709E50C}">
      <dgm:prSet/>
      <dgm:spPr/>
      <dgm:t>
        <a:bodyPr/>
        <a:lstStyle/>
        <a:p>
          <a:endParaRPr lang="en-US"/>
        </a:p>
      </dgm:t>
    </dgm:pt>
    <dgm:pt modelId="{A19C11E4-39C1-4968-8271-4EC021EB18D6}" type="sibTrans" cxnId="{EEB784B3-DE2E-4A1C-8BE0-00CB2709E50C}">
      <dgm:prSet/>
      <dgm:spPr/>
      <dgm:t>
        <a:bodyPr/>
        <a:lstStyle/>
        <a:p>
          <a:endParaRPr lang="en-US"/>
        </a:p>
      </dgm:t>
    </dgm:pt>
    <dgm:pt modelId="{405D7B08-C566-46AC-9071-6406642EEA9C}">
      <dgm:prSet/>
      <dgm:spPr/>
      <dgm:t>
        <a:bodyPr/>
        <a:lstStyle/>
        <a:p>
          <a:pPr>
            <a:buFont typeface="Arial" panose="020B0604020202020204" pitchFamily="34" charset="0"/>
            <a:buChar char="•"/>
          </a:pPr>
          <a:r>
            <a:rPr lang="en-US" sz="1400" b="0" i="0" dirty="0"/>
            <a:t>Review and prioritize tickets based on urgency and importance</a:t>
          </a:r>
        </a:p>
      </dgm:t>
    </dgm:pt>
    <dgm:pt modelId="{ABFC784E-B7FB-4F98-BF04-45BCE1D160C8}" type="parTrans" cxnId="{19837FD1-5954-49F6-8DE7-5D3EAB565E24}">
      <dgm:prSet/>
      <dgm:spPr/>
      <dgm:t>
        <a:bodyPr/>
        <a:lstStyle/>
        <a:p>
          <a:endParaRPr lang="en-US"/>
        </a:p>
      </dgm:t>
    </dgm:pt>
    <dgm:pt modelId="{E5B9286B-487F-46CB-AE02-9B25D511B00D}" type="sibTrans" cxnId="{19837FD1-5954-49F6-8DE7-5D3EAB565E24}">
      <dgm:prSet/>
      <dgm:spPr/>
      <dgm:t>
        <a:bodyPr/>
        <a:lstStyle/>
        <a:p>
          <a:endParaRPr lang="en-US"/>
        </a:p>
      </dgm:t>
    </dgm:pt>
    <dgm:pt modelId="{03DB05BB-ADE3-44A4-A1DA-7F84E2B8FEDD}">
      <dgm:prSet/>
      <dgm:spPr/>
      <dgm:t>
        <a:bodyPr/>
        <a:lstStyle/>
        <a:p>
          <a:pPr>
            <a:buFont typeface="Arial" panose="020B0604020202020204" pitchFamily="34" charset="0"/>
            <a:buChar char="•"/>
          </a:pPr>
          <a:r>
            <a:rPr lang="en-US" sz="1400" b="0" i="0" dirty="0"/>
            <a:t>Groom your backlog by cleaning out outdated tasks and ensuring items are relevant</a:t>
          </a:r>
        </a:p>
      </dgm:t>
    </dgm:pt>
    <dgm:pt modelId="{C05DFC2A-327B-412E-9443-786B088FA61A}" type="parTrans" cxnId="{6DC285B6-0AC1-47A8-A5F6-BA0B1E70A88B}">
      <dgm:prSet/>
      <dgm:spPr/>
      <dgm:t>
        <a:bodyPr/>
        <a:lstStyle/>
        <a:p>
          <a:endParaRPr lang="en-US"/>
        </a:p>
      </dgm:t>
    </dgm:pt>
    <dgm:pt modelId="{232D582E-FE56-450D-B6F8-5C561644873A}" type="sibTrans" cxnId="{6DC285B6-0AC1-47A8-A5F6-BA0B1E70A88B}">
      <dgm:prSet/>
      <dgm:spPr/>
      <dgm:t>
        <a:bodyPr/>
        <a:lstStyle/>
        <a:p>
          <a:endParaRPr lang="en-US"/>
        </a:p>
      </dgm:t>
    </dgm:pt>
    <dgm:pt modelId="{220D2FB5-143D-45C2-AE16-FFC5B7FF575F}">
      <dgm:prSet/>
      <dgm:spPr/>
      <dgm:t>
        <a:bodyPr/>
        <a:lstStyle/>
        <a:p>
          <a:pPr>
            <a:buFont typeface="Arial" panose="020B0604020202020204" pitchFamily="34" charset="0"/>
            <a:buChar char="•"/>
          </a:pPr>
          <a:r>
            <a:rPr lang="en-US" sz="1400" b="0" i="0" dirty="0"/>
            <a:t>Check any tickets assigned to you and update their status if needed</a:t>
          </a:r>
        </a:p>
      </dgm:t>
    </dgm:pt>
    <dgm:pt modelId="{76CAE3B6-0B1A-42A6-B6B2-D2735C35D1D4}" type="parTrans" cxnId="{62814610-3435-4825-A9E2-C65AC03A9045}">
      <dgm:prSet/>
      <dgm:spPr/>
      <dgm:t>
        <a:bodyPr/>
        <a:lstStyle/>
        <a:p>
          <a:endParaRPr lang="en-US"/>
        </a:p>
      </dgm:t>
    </dgm:pt>
    <dgm:pt modelId="{767673DF-5620-41EB-B546-F7D8810AA035}" type="sibTrans" cxnId="{62814610-3435-4825-A9E2-C65AC03A9045}">
      <dgm:prSet/>
      <dgm:spPr/>
      <dgm:t>
        <a:bodyPr/>
        <a:lstStyle/>
        <a:p>
          <a:endParaRPr lang="en-US"/>
        </a:p>
      </dgm:t>
    </dgm:pt>
    <dgm:pt modelId="{172D26B5-8792-42C2-B792-75DD64BB624E}">
      <dgm:prSet custT="1"/>
      <dgm:spPr/>
      <dgm:t>
        <a:bodyPr/>
        <a:lstStyle/>
        <a:p>
          <a:pPr>
            <a:buNone/>
          </a:pPr>
          <a:r>
            <a:rPr lang="en-US" sz="1800" b="1" dirty="0"/>
            <a:t>Mid-Shift:</a:t>
          </a:r>
          <a:endParaRPr lang="en-US" sz="1800" b="0" dirty="0"/>
        </a:p>
      </dgm:t>
    </dgm:pt>
    <dgm:pt modelId="{1B38ACD5-DA11-4790-B659-D5A33B61C51D}" type="parTrans" cxnId="{0C74C97B-61F6-4A8E-AE90-EE3E735E0276}">
      <dgm:prSet/>
      <dgm:spPr/>
      <dgm:t>
        <a:bodyPr/>
        <a:lstStyle/>
        <a:p>
          <a:endParaRPr lang="en-US"/>
        </a:p>
      </dgm:t>
    </dgm:pt>
    <dgm:pt modelId="{2C80B6A1-E7D0-4EE6-BB54-FF038AA673E3}" type="sibTrans" cxnId="{0C74C97B-61F6-4A8E-AE90-EE3E735E0276}">
      <dgm:prSet/>
      <dgm:spPr/>
      <dgm:t>
        <a:bodyPr/>
        <a:lstStyle/>
        <a:p>
          <a:endParaRPr lang="en-US"/>
        </a:p>
      </dgm:t>
    </dgm:pt>
    <dgm:pt modelId="{E8A0FF59-F673-45B3-9348-F7D289394130}">
      <dgm:prSet/>
      <dgm:spPr/>
      <dgm:t>
        <a:bodyPr/>
        <a:lstStyle/>
        <a:p>
          <a:pPr>
            <a:buFont typeface="Arial" panose="020B0604020202020204" pitchFamily="34" charset="0"/>
            <a:buChar char="•"/>
          </a:pPr>
          <a:r>
            <a:rPr lang="en-US" sz="1400" b="0" i="0" dirty="0"/>
            <a:t>Update ticket statuses to reflect current progress (To Do, In Progress, Code Review, etc.)</a:t>
          </a:r>
        </a:p>
      </dgm:t>
    </dgm:pt>
    <dgm:pt modelId="{4DAF653D-0FE1-4E7D-B744-1D3A64BC718C}" type="parTrans" cxnId="{EECEC9A6-E89F-4D16-80A9-E594C47EB732}">
      <dgm:prSet/>
      <dgm:spPr/>
      <dgm:t>
        <a:bodyPr/>
        <a:lstStyle/>
        <a:p>
          <a:endParaRPr lang="en-US"/>
        </a:p>
      </dgm:t>
    </dgm:pt>
    <dgm:pt modelId="{9893642D-D23E-4E7F-B99D-F72930CA4862}" type="sibTrans" cxnId="{EECEC9A6-E89F-4D16-80A9-E594C47EB732}">
      <dgm:prSet/>
      <dgm:spPr/>
      <dgm:t>
        <a:bodyPr/>
        <a:lstStyle/>
        <a:p>
          <a:endParaRPr lang="en-US"/>
        </a:p>
      </dgm:t>
    </dgm:pt>
    <dgm:pt modelId="{B5DC8675-B748-4AC0-B05C-491D42DDCA11}">
      <dgm:prSet/>
      <dgm:spPr/>
      <dgm:t>
        <a:bodyPr/>
        <a:lstStyle/>
        <a:p>
          <a:pPr>
            <a:buFont typeface="Arial" panose="020B0604020202020204" pitchFamily="34" charset="0"/>
            <a:buChar char="•"/>
          </a:pPr>
          <a:r>
            <a:rPr lang="en-US" sz="1400" b="0" i="0" dirty="0"/>
            <a:t>Add comments to tickets with any new information or challenges encountered</a:t>
          </a:r>
        </a:p>
      </dgm:t>
    </dgm:pt>
    <dgm:pt modelId="{18CCAD61-221B-49D1-A5AE-0BCA267B0BF1}" type="parTrans" cxnId="{953FEEB4-53F9-4F4D-80A6-BB41A26BBE93}">
      <dgm:prSet/>
      <dgm:spPr/>
      <dgm:t>
        <a:bodyPr/>
        <a:lstStyle/>
        <a:p>
          <a:endParaRPr lang="en-US"/>
        </a:p>
      </dgm:t>
    </dgm:pt>
    <dgm:pt modelId="{96FDBDCC-BC2D-4EFB-812D-71C7C85CC275}" type="sibTrans" cxnId="{953FEEB4-53F9-4F4D-80A6-BB41A26BBE93}">
      <dgm:prSet/>
      <dgm:spPr/>
      <dgm:t>
        <a:bodyPr/>
        <a:lstStyle/>
        <a:p>
          <a:endParaRPr lang="en-US"/>
        </a:p>
      </dgm:t>
    </dgm:pt>
    <dgm:pt modelId="{943C22C7-5711-4424-B51D-9F11290C7617}">
      <dgm:prSet/>
      <dgm:spPr/>
      <dgm:t>
        <a:bodyPr/>
        <a:lstStyle/>
        <a:p>
          <a:pPr>
            <a:buFont typeface="Arial" panose="020B0604020202020204" pitchFamily="34" charset="0"/>
            <a:buChar char="•"/>
          </a:pPr>
          <a:r>
            <a:rPr lang="en-US" sz="1400" b="0" i="0" dirty="0"/>
            <a:t>Link related work from other platforms to your Jira tickets for better visibility</a:t>
          </a:r>
        </a:p>
      </dgm:t>
    </dgm:pt>
    <dgm:pt modelId="{3B50E50D-ACA3-4DE6-87AB-7F67408C2094}" type="parTrans" cxnId="{28F09B2E-9506-415C-BE3B-CB46339CCB84}">
      <dgm:prSet/>
      <dgm:spPr/>
      <dgm:t>
        <a:bodyPr/>
        <a:lstStyle/>
        <a:p>
          <a:endParaRPr lang="en-US"/>
        </a:p>
      </dgm:t>
    </dgm:pt>
    <dgm:pt modelId="{8E9A378F-80BA-4A07-B12D-DBE86C1944B4}" type="sibTrans" cxnId="{28F09B2E-9506-415C-BE3B-CB46339CCB84}">
      <dgm:prSet/>
      <dgm:spPr/>
      <dgm:t>
        <a:bodyPr/>
        <a:lstStyle/>
        <a:p>
          <a:endParaRPr lang="en-US"/>
        </a:p>
      </dgm:t>
    </dgm:pt>
    <dgm:pt modelId="{BD9BCD1A-99A9-4D14-80B7-26A3ECE7189C}">
      <dgm:prSet custT="1"/>
      <dgm:spPr/>
      <dgm:t>
        <a:bodyPr/>
        <a:lstStyle/>
        <a:p>
          <a:pPr>
            <a:buNone/>
          </a:pPr>
          <a:r>
            <a:rPr lang="en-US" sz="1800" b="1" dirty="0"/>
            <a:t>End of Shift:</a:t>
          </a:r>
          <a:endParaRPr lang="en-US" sz="1800" b="0" dirty="0"/>
        </a:p>
      </dgm:t>
    </dgm:pt>
    <dgm:pt modelId="{5F46A08B-5335-4278-BDEB-1FD6A2BEA8F4}" type="parTrans" cxnId="{51A77968-1F30-4D36-AA07-1CD1AE8C21CF}">
      <dgm:prSet/>
      <dgm:spPr/>
      <dgm:t>
        <a:bodyPr/>
        <a:lstStyle/>
        <a:p>
          <a:endParaRPr lang="en-US"/>
        </a:p>
      </dgm:t>
    </dgm:pt>
    <dgm:pt modelId="{62300E42-7C46-4FBF-B583-10AECB936E31}" type="sibTrans" cxnId="{51A77968-1F30-4D36-AA07-1CD1AE8C21CF}">
      <dgm:prSet/>
      <dgm:spPr/>
      <dgm:t>
        <a:bodyPr/>
        <a:lstStyle/>
        <a:p>
          <a:endParaRPr lang="en-US"/>
        </a:p>
      </dgm:t>
    </dgm:pt>
    <dgm:pt modelId="{9F813E1E-FE36-48E6-8611-9DE31053C0AA}">
      <dgm:prSet/>
      <dgm:spPr/>
      <dgm:t>
        <a:bodyPr/>
        <a:lstStyle/>
        <a:p>
          <a:pPr>
            <a:buFont typeface="Arial" panose="020B0604020202020204" pitchFamily="34" charset="0"/>
            <a:buChar char="•"/>
          </a:pPr>
          <a:r>
            <a:rPr lang="en-US" sz="1400" b="0" i="0" dirty="0"/>
            <a:t>Ensure all completed work has the proper resolution status (not just moved to "Done")</a:t>
          </a:r>
        </a:p>
      </dgm:t>
    </dgm:pt>
    <dgm:pt modelId="{C863DCBD-1276-4142-A49C-025EB46C07ED}" type="parTrans" cxnId="{147BA766-6998-44E0-B618-EFA94F46D273}">
      <dgm:prSet/>
      <dgm:spPr/>
      <dgm:t>
        <a:bodyPr/>
        <a:lstStyle/>
        <a:p>
          <a:endParaRPr lang="en-US"/>
        </a:p>
      </dgm:t>
    </dgm:pt>
    <dgm:pt modelId="{9DC8D247-9FA5-4086-A0DB-D9FB2CA09477}" type="sibTrans" cxnId="{147BA766-6998-44E0-B618-EFA94F46D273}">
      <dgm:prSet/>
      <dgm:spPr/>
      <dgm:t>
        <a:bodyPr/>
        <a:lstStyle/>
        <a:p>
          <a:endParaRPr lang="en-US"/>
        </a:p>
      </dgm:t>
    </dgm:pt>
    <dgm:pt modelId="{E89E67FB-FB59-48E9-9597-31739054FD05}">
      <dgm:prSet/>
      <dgm:spPr/>
      <dgm:t>
        <a:bodyPr/>
        <a:lstStyle/>
        <a:p>
          <a:pPr>
            <a:buFont typeface="Arial" panose="020B0604020202020204" pitchFamily="34" charset="0"/>
            <a:buChar char="•"/>
          </a:pPr>
          <a:r>
            <a:rPr lang="en-US" sz="1400" b="0" i="0" dirty="0"/>
            <a:t>Write clear descriptions for any new tickets created, including context and acceptance criteria</a:t>
          </a:r>
        </a:p>
      </dgm:t>
    </dgm:pt>
    <dgm:pt modelId="{2FB6A75B-F42B-4871-BC04-FC1CD039CC1D}" type="parTrans" cxnId="{BF584732-3853-4ED8-9C96-83AB87DB6C15}">
      <dgm:prSet/>
      <dgm:spPr/>
      <dgm:t>
        <a:bodyPr/>
        <a:lstStyle/>
        <a:p>
          <a:endParaRPr lang="en-US"/>
        </a:p>
      </dgm:t>
    </dgm:pt>
    <dgm:pt modelId="{81BF623C-1E52-4BF4-93D6-FEC5CBBAB194}" type="sibTrans" cxnId="{BF584732-3853-4ED8-9C96-83AB87DB6C15}">
      <dgm:prSet/>
      <dgm:spPr/>
      <dgm:t>
        <a:bodyPr/>
        <a:lstStyle/>
        <a:p>
          <a:endParaRPr lang="en-US"/>
        </a:p>
      </dgm:t>
    </dgm:pt>
    <dgm:pt modelId="{CBBC15FD-AFFD-46CA-8C16-1B6E6BDB58EB}">
      <dgm:prSet/>
      <dgm:spPr/>
      <dgm:t>
        <a:bodyPr/>
        <a:lstStyle/>
        <a:p>
          <a:pPr>
            <a:buFont typeface="Arial" panose="020B0604020202020204" pitchFamily="34" charset="0"/>
            <a:buChar char="•"/>
          </a:pPr>
          <a:r>
            <a:rPr lang="en-US" sz="1400" b="0" i="0" dirty="0"/>
            <a:t>Use labels and filters to organize tickets for the next day's work</a:t>
          </a:r>
        </a:p>
      </dgm:t>
    </dgm:pt>
    <dgm:pt modelId="{0784C6BF-1A6D-4FAC-8211-A89C009B3982}" type="parTrans" cxnId="{F8EA473E-13F5-45B7-A574-69171A56702D}">
      <dgm:prSet/>
      <dgm:spPr/>
      <dgm:t>
        <a:bodyPr/>
        <a:lstStyle/>
        <a:p>
          <a:endParaRPr lang="en-US"/>
        </a:p>
      </dgm:t>
    </dgm:pt>
    <dgm:pt modelId="{C6348F25-05E6-4E6E-9375-D865C5119145}" type="sibTrans" cxnId="{F8EA473E-13F5-45B7-A574-69171A56702D}">
      <dgm:prSet/>
      <dgm:spPr/>
      <dgm:t>
        <a:bodyPr/>
        <a:lstStyle/>
        <a:p>
          <a:endParaRPr lang="en-US"/>
        </a:p>
      </dgm:t>
    </dgm:pt>
    <dgm:pt modelId="{9EC7EA78-39AA-475F-8033-9BAD526555B2}" type="pres">
      <dgm:prSet presAssocID="{4DCC58B4-1429-4AFE-BBEA-4C75043548D8}" presName="linear" presStyleCnt="0">
        <dgm:presLayoutVars>
          <dgm:animLvl val="lvl"/>
          <dgm:resizeHandles val="exact"/>
        </dgm:presLayoutVars>
      </dgm:prSet>
      <dgm:spPr/>
    </dgm:pt>
    <dgm:pt modelId="{D1B32CD4-DACA-474D-8D4F-AF890E394CBB}" type="pres">
      <dgm:prSet presAssocID="{8A3E5C69-D1A5-44FD-839F-EC8BD25DD32B}" presName="parentText" presStyleLbl="node1" presStyleIdx="0" presStyleCnt="1" custScaleY="67095" custLinFactNeighborX="-1586" custLinFactNeighborY="330">
        <dgm:presLayoutVars>
          <dgm:chMax val="0"/>
          <dgm:bulletEnabled val="1"/>
        </dgm:presLayoutVars>
      </dgm:prSet>
      <dgm:spPr/>
    </dgm:pt>
    <dgm:pt modelId="{D28675B0-7906-42DA-A548-D1BBE18DED8B}" type="pres">
      <dgm:prSet presAssocID="{8A3E5C69-D1A5-44FD-839F-EC8BD25DD32B}" presName="childText" presStyleLbl="revTx" presStyleIdx="0" presStyleCnt="1">
        <dgm:presLayoutVars>
          <dgm:bulletEnabled val="1"/>
        </dgm:presLayoutVars>
      </dgm:prSet>
      <dgm:spPr/>
    </dgm:pt>
  </dgm:ptLst>
  <dgm:cxnLst>
    <dgm:cxn modelId="{26754A00-D8ED-4CE0-A4D7-C97ED56393AB}" srcId="{4DCC58B4-1429-4AFE-BBEA-4C75043548D8}" destId="{8A3E5C69-D1A5-44FD-839F-EC8BD25DD32B}" srcOrd="0" destOrd="0" parTransId="{982DCB17-E8D6-40C7-ABD9-0AA43A62BC11}" sibTransId="{4AB4FE98-112B-416C-A711-7F26D0933335}"/>
    <dgm:cxn modelId="{62814610-3435-4825-A9E2-C65AC03A9045}" srcId="{E65FF145-9B4C-4D29-93A6-824C62CAC9C7}" destId="{220D2FB5-143D-45C2-AE16-FFC5B7FF575F}" srcOrd="2" destOrd="0" parTransId="{76CAE3B6-0B1A-42A6-B6B2-D2735C35D1D4}" sibTransId="{767673DF-5620-41EB-B546-F7D8810AA035}"/>
    <dgm:cxn modelId="{78D6AD12-FE4E-4563-9E31-74B027A91071}" type="presOf" srcId="{E8A0FF59-F673-45B3-9348-F7D289394130}" destId="{D28675B0-7906-42DA-A548-D1BBE18DED8B}" srcOrd="0" destOrd="5" presId="urn:microsoft.com/office/officeart/2005/8/layout/vList2"/>
    <dgm:cxn modelId="{EE728218-E824-4158-9F57-748F27EBE5D8}" type="presOf" srcId="{BD9BCD1A-99A9-4D14-80B7-26A3ECE7189C}" destId="{D28675B0-7906-42DA-A548-D1BBE18DED8B}" srcOrd="0" destOrd="8" presId="urn:microsoft.com/office/officeart/2005/8/layout/vList2"/>
    <dgm:cxn modelId="{28F09B2E-9506-415C-BE3B-CB46339CCB84}" srcId="{172D26B5-8792-42C2-B792-75DD64BB624E}" destId="{943C22C7-5711-4424-B51D-9F11290C7617}" srcOrd="2" destOrd="0" parTransId="{3B50E50D-ACA3-4DE6-87AB-7F67408C2094}" sibTransId="{8E9A378F-80BA-4A07-B12D-DBE86C1944B4}"/>
    <dgm:cxn modelId="{BF584732-3853-4ED8-9C96-83AB87DB6C15}" srcId="{BD9BCD1A-99A9-4D14-80B7-26A3ECE7189C}" destId="{E89E67FB-FB59-48E9-9597-31739054FD05}" srcOrd="1" destOrd="0" parTransId="{2FB6A75B-F42B-4871-BC04-FC1CD039CC1D}" sibTransId="{81BF623C-1E52-4BF4-93D6-FEC5CBBAB194}"/>
    <dgm:cxn modelId="{A614EB37-F5F2-44A2-AC4E-174B28A058ED}" type="presOf" srcId="{405D7B08-C566-46AC-9071-6406642EEA9C}" destId="{D28675B0-7906-42DA-A548-D1BBE18DED8B}" srcOrd="0" destOrd="1" presId="urn:microsoft.com/office/officeart/2005/8/layout/vList2"/>
    <dgm:cxn modelId="{2E49C43B-8CD3-4072-9813-BA5673FB24A3}" type="presOf" srcId="{03DB05BB-ADE3-44A4-A1DA-7F84E2B8FEDD}" destId="{D28675B0-7906-42DA-A548-D1BBE18DED8B}" srcOrd="0" destOrd="2" presId="urn:microsoft.com/office/officeart/2005/8/layout/vList2"/>
    <dgm:cxn modelId="{F8EA473E-13F5-45B7-A574-69171A56702D}" srcId="{BD9BCD1A-99A9-4D14-80B7-26A3ECE7189C}" destId="{CBBC15FD-AFFD-46CA-8C16-1B6E6BDB58EB}" srcOrd="2" destOrd="0" parTransId="{0784C6BF-1A6D-4FAC-8211-A89C009B3982}" sibTransId="{C6348F25-05E6-4E6E-9375-D865C5119145}"/>
    <dgm:cxn modelId="{FD726C43-34E2-4A86-A3AF-D359F807A3D5}" type="presOf" srcId="{8A3E5C69-D1A5-44FD-839F-EC8BD25DD32B}" destId="{D1B32CD4-DACA-474D-8D4F-AF890E394CBB}" srcOrd="0" destOrd="0" presId="urn:microsoft.com/office/officeart/2005/8/layout/vList2"/>
    <dgm:cxn modelId="{147BA766-6998-44E0-B618-EFA94F46D273}" srcId="{BD9BCD1A-99A9-4D14-80B7-26A3ECE7189C}" destId="{9F813E1E-FE36-48E6-8611-9DE31053C0AA}" srcOrd="0" destOrd="0" parTransId="{C863DCBD-1276-4142-A49C-025EB46C07ED}" sibTransId="{9DC8D247-9FA5-4086-A0DB-D9FB2CA09477}"/>
    <dgm:cxn modelId="{51A77968-1F30-4D36-AA07-1CD1AE8C21CF}" srcId="{8A3E5C69-D1A5-44FD-839F-EC8BD25DD32B}" destId="{BD9BCD1A-99A9-4D14-80B7-26A3ECE7189C}" srcOrd="2" destOrd="0" parTransId="{5F46A08B-5335-4278-BDEB-1FD6A2BEA8F4}" sibTransId="{62300E42-7C46-4FBF-B583-10AECB936E31}"/>
    <dgm:cxn modelId="{4602A559-C160-4A3F-A09A-490D908B64A6}" type="presOf" srcId="{943C22C7-5711-4424-B51D-9F11290C7617}" destId="{D28675B0-7906-42DA-A548-D1BBE18DED8B}" srcOrd="0" destOrd="7" presId="urn:microsoft.com/office/officeart/2005/8/layout/vList2"/>
    <dgm:cxn modelId="{0C74C97B-61F6-4A8E-AE90-EE3E735E0276}" srcId="{8A3E5C69-D1A5-44FD-839F-EC8BD25DD32B}" destId="{172D26B5-8792-42C2-B792-75DD64BB624E}" srcOrd="1" destOrd="0" parTransId="{1B38ACD5-DA11-4790-B659-D5A33B61C51D}" sibTransId="{2C80B6A1-E7D0-4EE6-BB54-FF038AA673E3}"/>
    <dgm:cxn modelId="{57C2C18F-D36E-4338-A79E-E31595286D9B}" type="presOf" srcId="{B5DC8675-B748-4AC0-B05C-491D42DDCA11}" destId="{D28675B0-7906-42DA-A548-D1BBE18DED8B}" srcOrd="0" destOrd="6" presId="urn:microsoft.com/office/officeart/2005/8/layout/vList2"/>
    <dgm:cxn modelId="{57F1A193-9EA7-4CA2-A544-5A0E47AD1001}" type="presOf" srcId="{4DCC58B4-1429-4AFE-BBEA-4C75043548D8}" destId="{9EC7EA78-39AA-475F-8033-9BAD526555B2}" srcOrd="0" destOrd="0" presId="urn:microsoft.com/office/officeart/2005/8/layout/vList2"/>
    <dgm:cxn modelId="{8282BD96-F6B7-434D-A824-6D55C5568689}" type="presOf" srcId="{E65FF145-9B4C-4D29-93A6-824C62CAC9C7}" destId="{D28675B0-7906-42DA-A548-D1BBE18DED8B}" srcOrd="0" destOrd="0" presId="urn:microsoft.com/office/officeart/2005/8/layout/vList2"/>
    <dgm:cxn modelId="{EECEC9A6-E89F-4D16-80A9-E594C47EB732}" srcId="{172D26B5-8792-42C2-B792-75DD64BB624E}" destId="{E8A0FF59-F673-45B3-9348-F7D289394130}" srcOrd="0" destOrd="0" parTransId="{4DAF653D-0FE1-4E7D-B744-1D3A64BC718C}" sibTransId="{9893642D-D23E-4E7F-B99D-F72930CA4862}"/>
    <dgm:cxn modelId="{9AE50BA8-2AF6-432F-9EA8-6558C47F4299}" type="presOf" srcId="{E89E67FB-FB59-48E9-9597-31739054FD05}" destId="{D28675B0-7906-42DA-A548-D1BBE18DED8B}" srcOrd="0" destOrd="10" presId="urn:microsoft.com/office/officeart/2005/8/layout/vList2"/>
    <dgm:cxn modelId="{EEB784B3-DE2E-4A1C-8BE0-00CB2709E50C}" srcId="{8A3E5C69-D1A5-44FD-839F-EC8BD25DD32B}" destId="{E65FF145-9B4C-4D29-93A6-824C62CAC9C7}" srcOrd="0" destOrd="0" parTransId="{B6C10A05-499B-4587-817F-9392DB9F23FA}" sibTransId="{A19C11E4-39C1-4968-8271-4EC021EB18D6}"/>
    <dgm:cxn modelId="{7A30E2B3-9F03-4F4B-9D4F-423EF6BFE8DC}" type="presOf" srcId="{9F813E1E-FE36-48E6-8611-9DE31053C0AA}" destId="{D28675B0-7906-42DA-A548-D1BBE18DED8B}" srcOrd="0" destOrd="9" presId="urn:microsoft.com/office/officeart/2005/8/layout/vList2"/>
    <dgm:cxn modelId="{953FEEB4-53F9-4F4D-80A6-BB41A26BBE93}" srcId="{172D26B5-8792-42C2-B792-75DD64BB624E}" destId="{B5DC8675-B748-4AC0-B05C-491D42DDCA11}" srcOrd="1" destOrd="0" parTransId="{18CCAD61-221B-49D1-A5AE-0BCA267B0BF1}" sibTransId="{96FDBDCC-BC2D-4EFB-812D-71C7C85CC275}"/>
    <dgm:cxn modelId="{6DC285B6-0AC1-47A8-A5F6-BA0B1E70A88B}" srcId="{E65FF145-9B4C-4D29-93A6-824C62CAC9C7}" destId="{03DB05BB-ADE3-44A4-A1DA-7F84E2B8FEDD}" srcOrd="1" destOrd="0" parTransId="{C05DFC2A-327B-412E-9443-786B088FA61A}" sibTransId="{232D582E-FE56-450D-B6F8-5C561644873A}"/>
    <dgm:cxn modelId="{10CD5FC5-9E0F-4D92-BBFD-4DEDA3D5C49B}" type="presOf" srcId="{CBBC15FD-AFFD-46CA-8C16-1B6E6BDB58EB}" destId="{D28675B0-7906-42DA-A548-D1BBE18DED8B}" srcOrd="0" destOrd="11" presId="urn:microsoft.com/office/officeart/2005/8/layout/vList2"/>
    <dgm:cxn modelId="{19837FD1-5954-49F6-8DE7-5D3EAB565E24}" srcId="{E65FF145-9B4C-4D29-93A6-824C62CAC9C7}" destId="{405D7B08-C566-46AC-9071-6406642EEA9C}" srcOrd="0" destOrd="0" parTransId="{ABFC784E-B7FB-4F98-BF04-45BCE1D160C8}" sibTransId="{E5B9286B-487F-46CB-AE02-9B25D511B00D}"/>
    <dgm:cxn modelId="{DF813DDE-D5CB-484D-AF1E-6526695EEF85}" type="presOf" srcId="{220D2FB5-143D-45C2-AE16-FFC5B7FF575F}" destId="{D28675B0-7906-42DA-A548-D1BBE18DED8B}" srcOrd="0" destOrd="3" presId="urn:microsoft.com/office/officeart/2005/8/layout/vList2"/>
    <dgm:cxn modelId="{2F5D1DF3-E0C8-40A9-AF8B-AAD65445A5AA}" type="presOf" srcId="{172D26B5-8792-42C2-B792-75DD64BB624E}" destId="{D28675B0-7906-42DA-A548-D1BBE18DED8B}" srcOrd="0" destOrd="4" presId="urn:microsoft.com/office/officeart/2005/8/layout/vList2"/>
    <dgm:cxn modelId="{F9B6FA36-5CAA-473C-A9D1-178D3DE2B7BF}" type="presParOf" srcId="{9EC7EA78-39AA-475F-8033-9BAD526555B2}" destId="{D1B32CD4-DACA-474D-8D4F-AF890E394CBB}" srcOrd="0" destOrd="0" presId="urn:microsoft.com/office/officeart/2005/8/layout/vList2"/>
    <dgm:cxn modelId="{8F28EB9D-41BD-4C44-A252-EF4AA807AF0A}" type="presParOf" srcId="{9EC7EA78-39AA-475F-8033-9BAD526555B2}" destId="{D28675B0-7906-42DA-A548-D1BBE18DED8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DCC58B4-1429-4AFE-BBEA-4C75043548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A3E5C69-D1A5-44FD-839F-EC8BD25DD32B}">
      <dgm:prSet phldrT="[Text]" custT="1"/>
      <dgm:spPr/>
      <dgm:t>
        <a:bodyPr/>
        <a:lstStyle/>
        <a:p>
          <a:r>
            <a:rPr lang="en-US" sz="2400" dirty="0"/>
            <a:t>Best practices – </a:t>
          </a:r>
          <a:r>
            <a:rPr lang="en-US" sz="2400" b="1" dirty="0">
              <a:solidFill>
                <a:srgbClr val="F4EE00"/>
              </a:solidFill>
            </a:rPr>
            <a:t>E-mail (Outlook)</a:t>
          </a:r>
        </a:p>
      </dgm:t>
    </dgm:pt>
    <dgm:pt modelId="{982DCB17-E8D6-40C7-ABD9-0AA43A62BC11}" type="parTrans" cxnId="{26754A00-D8ED-4CE0-A4D7-C97ED56393AB}">
      <dgm:prSet/>
      <dgm:spPr/>
      <dgm:t>
        <a:bodyPr/>
        <a:lstStyle/>
        <a:p>
          <a:endParaRPr lang="en-US"/>
        </a:p>
      </dgm:t>
    </dgm:pt>
    <dgm:pt modelId="{4AB4FE98-112B-416C-A711-7F26D0933335}" type="sibTrans" cxnId="{26754A00-D8ED-4CE0-A4D7-C97ED56393AB}">
      <dgm:prSet/>
      <dgm:spPr/>
      <dgm:t>
        <a:bodyPr/>
        <a:lstStyle/>
        <a:p>
          <a:endParaRPr lang="en-US"/>
        </a:p>
      </dgm:t>
    </dgm:pt>
    <dgm:pt modelId="{E65FF145-9B4C-4D29-93A6-824C62CAC9C7}">
      <dgm:prSet phldrT="[Text]" custT="1"/>
      <dgm:spPr/>
      <dgm:t>
        <a:bodyPr/>
        <a:lstStyle/>
        <a:p>
          <a:pPr>
            <a:buNone/>
          </a:pPr>
          <a:r>
            <a:rPr lang="en-US" sz="1800" b="1" dirty="0"/>
            <a:t>Start of Shift:</a:t>
          </a:r>
          <a:endParaRPr lang="en-US" sz="1800" dirty="0"/>
        </a:p>
      </dgm:t>
    </dgm:pt>
    <dgm:pt modelId="{B6C10A05-499B-4587-817F-9392DB9F23FA}" type="parTrans" cxnId="{EEB784B3-DE2E-4A1C-8BE0-00CB2709E50C}">
      <dgm:prSet/>
      <dgm:spPr/>
      <dgm:t>
        <a:bodyPr/>
        <a:lstStyle/>
        <a:p>
          <a:endParaRPr lang="en-US"/>
        </a:p>
      </dgm:t>
    </dgm:pt>
    <dgm:pt modelId="{A19C11E4-39C1-4968-8271-4EC021EB18D6}" type="sibTrans" cxnId="{EEB784B3-DE2E-4A1C-8BE0-00CB2709E50C}">
      <dgm:prSet/>
      <dgm:spPr/>
      <dgm:t>
        <a:bodyPr/>
        <a:lstStyle/>
        <a:p>
          <a:endParaRPr lang="en-US"/>
        </a:p>
      </dgm:t>
    </dgm:pt>
    <dgm:pt modelId="{405D7B08-C566-46AC-9071-6406642EEA9C}">
      <dgm:prSet/>
      <dgm:spPr/>
      <dgm:t>
        <a:bodyPr/>
        <a:lstStyle/>
        <a:p>
          <a:pPr>
            <a:buFont typeface="Arial" panose="020B0604020202020204" pitchFamily="34" charset="0"/>
            <a:buChar char="•"/>
          </a:pPr>
          <a:r>
            <a:rPr lang="en-US" sz="1400" b="0" i="0" dirty="0"/>
            <a:t>Process emails using the 4 Ds method: Delete, Do (if under 2 minutes), Delegate, or Defer</a:t>
          </a:r>
        </a:p>
      </dgm:t>
    </dgm:pt>
    <dgm:pt modelId="{ABFC784E-B7FB-4F98-BF04-45BCE1D160C8}" type="parTrans" cxnId="{19837FD1-5954-49F6-8DE7-5D3EAB565E24}">
      <dgm:prSet/>
      <dgm:spPr/>
      <dgm:t>
        <a:bodyPr/>
        <a:lstStyle/>
        <a:p>
          <a:endParaRPr lang="en-US"/>
        </a:p>
      </dgm:t>
    </dgm:pt>
    <dgm:pt modelId="{E5B9286B-487F-46CB-AE02-9B25D511B00D}" type="sibTrans" cxnId="{19837FD1-5954-49F6-8DE7-5D3EAB565E24}">
      <dgm:prSet/>
      <dgm:spPr/>
      <dgm:t>
        <a:bodyPr/>
        <a:lstStyle/>
        <a:p>
          <a:endParaRPr lang="en-US"/>
        </a:p>
      </dgm:t>
    </dgm:pt>
    <dgm:pt modelId="{172D26B5-8792-42C2-B792-75DD64BB624E}">
      <dgm:prSet custT="1"/>
      <dgm:spPr/>
      <dgm:t>
        <a:bodyPr/>
        <a:lstStyle/>
        <a:p>
          <a:pPr>
            <a:buNone/>
          </a:pPr>
          <a:r>
            <a:rPr lang="en-US" sz="1800" b="1" dirty="0"/>
            <a:t>Mid-Shift:</a:t>
          </a:r>
          <a:endParaRPr lang="en-US" sz="1800" b="0" dirty="0"/>
        </a:p>
      </dgm:t>
    </dgm:pt>
    <dgm:pt modelId="{1B38ACD5-DA11-4790-B659-D5A33B61C51D}" type="parTrans" cxnId="{0C74C97B-61F6-4A8E-AE90-EE3E735E0276}">
      <dgm:prSet/>
      <dgm:spPr/>
      <dgm:t>
        <a:bodyPr/>
        <a:lstStyle/>
        <a:p>
          <a:endParaRPr lang="en-US"/>
        </a:p>
      </dgm:t>
    </dgm:pt>
    <dgm:pt modelId="{2C80B6A1-E7D0-4EE6-BB54-FF038AA673E3}" type="sibTrans" cxnId="{0C74C97B-61F6-4A8E-AE90-EE3E735E0276}">
      <dgm:prSet/>
      <dgm:spPr/>
      <dgm:t>
        <a:bodyPr/>
        <a:lstStyle/>
        <a:p>
          <a:endParaRPr lang="en-US"/>
        </a:p>
      </dgm:t>
    </dgm:pt>
    <dgm:pt modelId="{E8A0FF59-F673-45B3-9348-F7D289394130}">
      <dgm:prSet/>
      <dgm:spPr/>
      <dgm:t>
        <a:bodyPr/>
        <a:lstStyle/>
        <a:p>
          <a:pPr>
            <a:buFont typeface="Arial" panose="020B0604020202020204" pitchFamily="34" charset="0"/>
            <a:buChar char="•"/>
          </a:pPr>
          <a:r>
            <a:rPr lang="en-US" sz="1400" b="0" i="0" dirty="0"/>
            <a:t>Check priority emails only and respond to time-sensitive messages</a:t>
          </a:r>
        </a:p>
      </dgm:t>
    </dgm:pt>
    <dgm:pt modelId="{4DAF653D-0FE1-4E7D-B744-1D3A64BC718C}" type="parTrans" cxnId="{EECEC9A6-E89F-4D16-80A9-E594C47EB732}">
      <dgm:prSet/>
      <dgm:spPr/>
      <dgm:t>
        <a:bodyPr/>
        <a:lstStyle/>
        <a:p>
          <a:endParaRPr lang="en-US"/>
        </a:p>
      </dgm:t>
    </dgm:pt>
    <dgm:pt modelId="{9893642D-D23E-4E7F-B99D-F72930CA4862}" type="sibTrans" cxnId="{EECEC9A6-E89F-4D16-80A9-E594C47EB732}">
      <dgm:prSet/>
      <dgm:spPr/>
      <dgm:t>
        <a:bodyPr/>
        <a:lstStyle/>
        <a:p>
          <a:endParaRPr lang="en-US"/>
        </a:p>
      </dgm:t>
    </dgm:pt>
    <dgm:pt modelId="{BD9BCD1A-99A9-4D14-80B7-26A3ECE7189C}">
      <dgm:prSet custT="1"/>
      <dgm:spPr/>
      <dgm:t>
        <a:bodyPr/>
        <a:lstStyle/>
        <a:p>
          <a:pPr>
            <a:buNone/>
          </a:pPr>
          <a:r>
            <a:rPr lang="en-US" sz="1800" b="1" dirty="0"/>
            <a:t>End of Shift:</a:t>
          </a:r>
          <a:endParaRPr lang="en-US" sz="1800" b="0" dirty="0"/>
        </a:p>
      </dgm:t>
    </dgm:pt>
    <dgm:pt modelId="{5F46A08B-5335-4278-BDEB-1FD6A2BEA8F4}" type="parTrans" cxnId="{51A77968-1F30-4D36-AA07-1CD1AE8C21CF}">
      <dgm:prSet/>
      <dgm:spPr/>
      <dgm:t>
        <a:bodyPr/>
        <a:lstStyle/>
        <a:p>
          <a:endParaRPr lang="en-US"/>
        </a:p>
      </dgm:t>
    </dgm:pt>
    <dgm:pt modelId="{62300E42-7C46-4FBF-B583-10AECB936E31}" type="sibTrans" cxnId="{51A77968-1F30-4D36-AA07-1CD1AE8C21CF}">
      <dgm:prSet/>
      <dgm:spPr/>
      <dgm:t>
        <a:bodyPr/>
        <a:lstStyle/>
        <a:p>
          <a:endParaRPr lang="en-US"/>
        </a:p>
      </dgm:t>
    </dgm:pt>
    <dgm:pt modelId="{9F813E1E-FE36-48E6-8611-9DE31053C0AA}">
      <dgm:prSet/>
      <dgm:spPr/>
      <dgm:t>
        <a:bodyPr/>
        <a:lstStyle/>
        <a:p>
          <a:pPr>
            <a:buFont typeface="Arial" panose="020B0604020202020204" pitchFamily="34" charset="0"/>
            <a:buChar char="•"/>
          </a:pPr>
          <a:r>
            <a:rPr lang="en-US" sz="1400" b="0" i="0" dirty="0"/>
            <a:t>Clear out emails that accumulated during the day</a:t>
          </a:r>
        </a:p>
      </dgm:t>
    </dgm:pt>
    <dgm:pt modelId="{C863DCBD-1276-4142-A49C-025EB46C07ED}" type="parTrans" cxnId="{147BA766-6998-44E0-B618-EFA94F46D273}">
      <dgm:prSet/>
      <dgm:spPr/>
      <dgm:t>
        <a:bodyPr/>
        <a:lstStyle/>
        <a:p>
          <a:endParaRPr lang="en-US"/>
        </a:p>
      </dgm:t>
    </dgm:pt>
    <dgm:pt modelId="{9DC8D247-9FA5-4086-A0DB-D9FB2CA09477}" type="sibTrans" cxnId="{147BA766-6998-44E0-B618-EFA94F46D273}">
      <dgm:prSet/>
      <dgm:spPr/>
      <dgm:t>
        <a:bodyPr/>
        <a:lstStyle/>
        <a:p>
          <a:endParaRPr lang="en-US"/>
        </a:p>
      </dgm:t>
    </dgm:pt>
    <dgm:pt modelId="{E89E67FB-FB59-48E9-9597-31739054FD05}">
      <dgm:prSet/>
      <dgm:spPr/>
      <dgm:t>
        <a:bodyPr/>
        <a:lstStyle/>
        <a:p>
          <a:pPr>
            <a:buFont typeface="Arial" panose="020B0604020202020204" pitchFamily="34" charset="0"/>
            <a:buChar char="•"/>
          </a:pPr>
          <a:r>
            <a:rPr lang="en-US" sz="1400" b="0" i="0" dirty="0"/>
            <a:t>Organize your inbox with folders and filters for the next day</a:t>
          </a:r>
        </a:p>
      </dgm:t>
    </dgm:pt>
    <dgm:pt modelId="{2FB6A75B-F42B-4871-BC04-FC1CD039CC1D}" type="parTrans" cxnId="{BF584732-3853-4ED8-9C96-83AB87DB6C15}">
      <dgm:prSet/>
      <dgm:spPr/>
      <dgm:t>
        <a:bodyPr/>
        <a:lstStyle/>
        <a:p>
          <a:endParaRPr lang="en-US"/>
        </a:p>
      </dgm:t>
    </dgm:pt>
    <dgm:pt modelId="{81BF623C-1E52-4BF4-93D6-FEC5CBBAB194}" type="sibTrans" cxnId="{BF584732-3853-4ED8-9C96-83AB87DB6C15}">
      <dgm:prSet/>
      <dgm:spPr/>
      <dgm:t>
        <a:bodyPr/>
        <a:lstStyle/>
        <a:p>
          <a:endParaRPr lang="en-US"/>
        </a:p>
      </dgm:t>
    </dgm:pt>
    <dgm:pt modelId="{CBBC15FD-AFFD-46CA-8C16-1B6E6BDB58EB}">
      <dgm:prSet/>
      <dgm:spPr/>
      <dgm:t>
        <a:bodyPr/>
        <a:lstStyle/>
        <a:p>
          <a:pPr>
            <a:buFont typeface="Arial" panose="020B0604020202020204" pitchFamily="34" charset="0"/>
            <a:buChar char="•"/>
          </a:pPr>
          <a:r>
            <a:rPr lang="en-US" sz="1400" b="0" i="0"/>
            <a:t>Use labels and filters to organize tickets for the next day's work</a:t>
          </a:r>
          <a:endParaRPr lang="en-US" sz="1400" b="0" i="0" dirty="0"/>
        </a:p>
      </dgm:t>
    </dgm:pt>
    <dgm:pt modelId="{0784C6BF-1A6D-4FAC-8211-A89C009B3982}" type="parTrans" cxnId="{F8EA473E-13F5-45B7-A574-69171A56702D}">
      <dgm:prSet/>
      <dgm:spPr/>
      <dgm:t>
        <a:bodyPr/>
        <a:lstStyle/>
        <a:p>
          <a:endParaRPr lang="en-US"/>
        </a:p>
      </dgm:t>
    </dgm:pt>
    <dgm:pt modelId="{C6348F25-05E6-4E6E-9375-D865C5119145}" type="sibTrans" cxnId="{F8EA473E-13F5-45B7-A574-69171A56702D}">
      <dgm:prSet/>
      <dgm:spPr/>
      <dgm:t>
        <a:bodyPr/>
        <a:lstStyle/>
        <a:p>
          <a:endParaRPr lang="en-US"/>
        </a:p>
      </dgm:t>
    </dgm:pt>
    <dgm:pt modelId="{03DB05BB-ADE3-44A4-A1DA-7F84E2B8FEDD}">
      <dgm:prSet/>
      <dgm:spPr/>
      <dgm:t>
        <a:bodyPr/>
        <a:lstStyle/>
        <a:p>
          <a:pPr>
            <a:buFont typeface="Arial" panose="020B0604020202020204" pitchFamily="34" charset="0"/>
            <a:buChar char="•"/>
          </a:pPr>
          <a:r>
            <a:rPr lang="en-US" sz="1400" b="0" i="0" dirty="0"/>
            <a:t>Sort emails into action folders: Action Required, Waiting for Response, Reference, Archive</a:t>
          </a:r>
        </a:p>
      </dgm:t>
    </dgm:pt>
    <dgm:pt modelId="{232D582E-FE56-450D-B6F8-5C561644873A}" type="sibTrans" cxnId="{6DC285B6-0AC1-47A8-A5F6-BA0B1E70A88B}">
      <dgm:prSet/>
      <dgm:spPr/>
      <dgm:t>
        <a:bodyPr/>
        <a:lstStyle/>
        <a:p>
          <a:endParaRPr lang="en-US"/>
        </a:p>
      </dgm:t>
    </dgm:pt>
    <dgm:pt modelId="{C05DFC2A-327B-412E-9443-786B088FA61A}" type="parTrans" cxnId="{6DC285B6-0AC1-47A8-A5F6-BA0B1E70A88B}">
      <dgm:prSet/>
      <dgm:spPr/>
      <dgm:t>
        <a:bodyPr/>
        <a:lstStyle/>
        <a:p>
          <a:endParaRPr lang="en-US"/>
        </a:p>
      </dgm:t>
    </dgm:pt>
    <dgm:pt modelId="{220D2FB5-143D-45C2-AE16-FFC5B7FF575F}">
      <dgm:prSet/>
      <dgm:spPr/>
      <dgm:t>
        <a:bodyPr/>
        <a:lstStyle/>
        <a:p>
          <a:pPr>
            <a:buFont typeface="Arial" panose="020B0604020202020204" pitchFamily="34" charset="0"/>
            <a:buChar char="•"/>
          </a:pPr>
          <a:r>
            <a:rPr lang="en-US" sz="1400" b="0" i="0" dirty="0"/>
            <a:t>Handle quick responses immediately using the 1-minute rule</a:t>
          </a:r>
        </a:p>
      </dgm:t>
    </dgm:pt>
    <dgm:pt modelId="{767673DF-5620-41EB-B546-F7D8810AA035}" type="sibTrans" cxnId="{62814610-3435-4825-A9E2-C65AC03A9045}">
      <dgm:prSet/>
      <dgm:spPr/>
      <dgm:t>
        <a:bodyPr/>
        <a:lstStyle/>
        <a:p>
          <a:endParaRPr lang="en-US"/>
        </a:p>
      </dgm:t>
    </dgm:pt>
    <dgm:pt modelId="{76CAE3B6-0B1A-42A6-B6B2-D2735C35D1D4}" type="parTrans" cxnId="{62814610-3435-4825-A9E2-C65AC03A9045}">
      <dgm:prSet/>
      <dgm:spPr/>
      <dgm:t>
        <a:bodyPr/>
        <a:lstStyle/>
        <a:p>
          <a:endParaRPr lang="en-US"/>
        </a:p>
      </dgm:t>
    </dgm:pt>
    <dgm:pt modelId="{B5DC8675-B748-4AC0-B05C-491D42DDCA11}">
      <dgm:prSet/>
      <dgm:spPr/>
      <dgm:t>
        <a:bodyPr/>
        <a:lstStyle/>
        <a:p>
          <a:pPr>
            <a:buFont typeface="Arial" panose="020B0604020202020204" pitchFamily="34" charset="0"/>
            <a:buChar char="•"/>
          </a:pPr>
          <a:r>
            <a:rPr lang="en-US" sz="1400" b="0" i="0" dirty="0"/>
            <a:t>Batch similar emails together (client inquiries, team updates) to process efficiently</a:t>
          </a:r>
        </a:p>
      </dgm:t>
    </dgm:pt>
    <dgm:pt modelId="{96FDBDCC-BC2D-4EFB-812D-71C7C85CC275}" type="sibTrans" cxnId="{953FEEB4-53F9-4F4D-80A6-BB41A26BBE93}">
      <dgm:prSet/>
      <dgm:spPr/>
      <dgm:t>
        <a:bodyPr/>
        <a:lstStyle/>
        <a:p>
          <a:endParaRPr lang="en-US"/>
        </a:p>
      </dgm:t>
    </dgm:pt>
    <dgm:pt modelId="{18CCAD61-221B-49D1-A5AE-0BCA267B0BF1}" type="parTrans" cxnId="{953FEEB4-53F9-4F4D-80A6-BB41A26BBE93}">
      <dgm:prSet/>
      <dgm:spPr/>
      <dgm:t>
        <a:bodyPr/>
        <a:lstStyle/>
        <a:p>
          <a:endParaRPr lang="en-US"/>
        </a:p>
      </dgm:t>
    </dgm:pt>
    <dgm:pt modelId="{943C22C7-5711-4424-B51D-9F11290C7617}">
      <dgm:prSet/>
      <dgm:spPr/>
      <dgm:t>
        <a:bodyPr/>
        <a:lstStyle/>
        <a:p>
          <a:pPr>
            <a:buFont typeface="Arial" panose="020B0604020202020204" pitchFamily="34" charset="0"/>
            <a:buChar char="•"/>
          </a:pPr>
          <a:r>
            <a:rPr lang="en-US" sz="1400" b="0" i="0" dirty="0"/>
            <a:t>Make emails clear and specific with bullet points to reduce follow-up questions</a:t>
          </a:r>
        </a:p>
      </dgm:t>
    </dgm:pt>
    <dgm:pt modelId="{8E9A378F-80BA-4A07-B12D-DBE86C1944B4}" type="sibTrans" cxnId="{28F09B2E-9506-415C-BE3B-CB46339CCB84}">
      <dgm:prSet/>
      <dgm:spPr/>
      <dgm:t>
        <a:bodyPr/>
        <a:lstStyle/>
        <a:p>
          <a:endParaRPr lang="en-US"/>
        </a:p>
      </dgm:t>
    </dgm:pt>
    <dgm:pt modelId="{3B50E50D-ACA3-4DE6-87AB-7F67408C2094}" type="parTrans" cxnId="{28F09B2E-9506-415C-BE3B-CB46339CCB84}">
      <dgm:prSet/>
      <dgm:spPr/>
      <dgm:t>
        <a:bodyPr/>
        <a:lstStyle/>
        <a:p>
          <a:endParaRPr lang="en-US"/>
        </a:p>
      </dgm:t>
    </dgm:pt>
    <dgm:pt modelId="{9EC7EA78-39AA-475F-8033-9BAD526555B2}" type="pres">
      <dgm:prSet presAssocID="{4DCC58B4-1429-4AFE-BBEA-4C75043548D8}" presName="linear" presStyleCnt="0">
        <dgm:presLayoutVars>
          <dgm:animLvl val="lvl"/>
          <dgm:resizeHandles val="exact"/>
        </dgm:presLayoutVars>
      </dgm:prSet>
      <dgm:spPr/>
    </dgm:pt>
    <dgm:pt modelId="{D1B32CD4-DACA-474D-8D4F-AF890E394CBB}" type="pres">
      <dgm:prSet presAssocID="{8A3E5C69-D1A5-44FD-839F-EC8BD25DD32B}" presName="parentText" presStyleLbl="node1" presStyleIdx="0" presStyleCnt="1" custScaleY="67095" custLinFactNeighborX="-433">
        <dgm:presLayoutVars>
          <dgm:chMax val="0"/>
          <dgm:bulletEnabled val="1"/>
        </dgm:presLayoutVars>
      </dgm:prSet>
      <dgm:spPr/>
    </dgm:pt>
    <dgm:pt modelId="{D28675B0-7906-42DA-A548-D1BBE18DED8B}" type="pres">
      <dgm:prSet presAssocID="{8A3E5C69-D1A5-44FD-839F-EC8BD25DD32B}" presName="childText" presStyleLbl="revTx" presStyleIdx="0" presStyleCnt="1">
        <dgm:presLayoutVars>
          <dgm:bulletEnabled val="1"/>
        </dgm:presLayoutVars>
      </dgm:prSet>
      <dgm:spPr/>
    </dgm:pt>
  </dgm:ptLst>
  <dgm:cxnLst>
    <dgm:cxn modelId="{26754A00-D8ED-4CE0-A4D7-C97ED56393AB}" srcId="{4DCC58B4-1429-4AFE-BBEA-4C75043548D8}" destId="{8A3E5C69-D1A5-44FD-839F-EC8BD25DD32B}" srcOrd="0" destOrd="0" parTransId="{982DCB17-E8D6-40C7-ABD9-0AA43A62BC11}" sibTransId="{4AB4FE98-112B-416C-A711-7F26D0933335}"/>
    <dgm:cxn modelId="{62814610-3435-4825-A9E2-C65AC03A9045}" srcId="{E65FF145-9B4C-4D29-93A6-824C62CAC9C7}" destId="{220D2FB5-143D-45C2-AE16-FFC5B7FF575F}" srcOrd="2" destOrd="0" parTransId="{76CAE3B6-0B1A-42A6-B6B2-D2735C35D1D4}" sibTransId="{767673DF-5620-41EB-B546-F7D8810AA035}"/>
    <dgm:cxn modelId="{78D6AD12-FE4E-4563-9E31-74B027A91071}" type="presOf" srcId="{E8A0FF59-F673-45B3-9348-F7D289394130}" destId="{D28675B0-7906-42DA-A548-D1BBE18DED8B}" srcOrd="0" destOrd="5" presId="urn:microsoft.com/office/officeart/2005/8/layout/vList2"/>
    <dgm:cxn modelId="{EE728218-E824-4158-9F57-748F27EBE5D8}" type="presOf" srcId="{BD9BCD1A-99A9-4D14-80B7-26A3ECE7189C}" destId="{D28675B0-7906-42DA-A548-D1BBE18DED8B}" srcOrd="0" destOrd="8" presId="urn:microsoft.com/office/officeart/2005/8/layout/vList2"/>
    <dgm:cxn modelId="{28F09B2E-9506-415C-BE3B-CB46339CCB84}" srcId="{172D26B5-8792-42C2-B792-75DD64BB624E}" destId="{943C22C7-5711-4424-B51D-9F11290C7617}" srcOrd="2" destOrd="0" parTransId="{3B50E50D-ACA3-4DE6-87AB-7F67408C2094}" sibTransId="{8E9A378F-80BA-4A07-B12D-DBE86C1944B4}"/>
    <dgm:cxn modelId="{BF584732-3853-4ED8-9C96-83AB87DB6C15}" srcId="{BD9BCD1A-99A9-4D14-80B7-26A3ECE7189C}" destId="{E89E67FB-FB59-48E9-9597-31739054FD05}" srcOrd="1" destOrd="0" parTransId="{2FB6A75B-F42B-4871-BC04-FC1CD039CC1D}" sibTransId="{81BF623C-1E52-4BF4-93D6-FEC5CBBAB194}"/>
    <dgm:cxn modelId="{A614EB37-F5F2-44A2-AC4E-174B28A058ED}" type="presOf" srcId="{405D7B08-C566-46AC-9071-6406642EEA9C}" destId="{D28675B0-7906-42DA-A548-D1BBE18DED8B}" srcOrd="0" destOrd="1" presId="urn:microsoft.com/office/officeart/2005/8/layout/vList2"/>
    <dgm:cxn modelId="{2E49C43B-8CD3-4072-9813-BA5673FB24A3}" type="presOf" srcId="{03DB05BB-ADE3-44A4-A1DA-7F84E2B8FEDD}" destId="{D28675B0-7906-42DA-A548-D1BBE18DED8B}" srcOrd="0" destOrd="2" presId="urn:microsoft.com/office/officeart/2005/8/layout/vList2"/>
    <dgm:cxn modelId="{F8EA473E-13F5-45B7-A574-69171A56702D}" srcId="{BD9BCD1A-99A9-4D14-80B7-26A3ECE7189C}" destId="{CBBC15FD-AFFD-46CA-8C16-1B6E6BDB58EB}" srcOrd="2" destOrd="0" parTransId="{0784C6BF-1A6D-4FAC-8211-A89C009B3982}" sibTransId="{C6348F25-05E6-4E6E-9375-D865C5119145}"/>
    <dgm:cxn modelId="{FD726C43-34E2-4A86-A3AF-D359F807A3D5}" type="presOf" srcId="{8A3E5C69-D1A5-44FD-839F-EC8BD25DD32B}" destId="{D1B32CD4-DACA-474D-8D4F-AF890E394CBB}" srcOrd="0" destOrd="0" presId="urn:microsoft.com/office/officeart/2005/8/layout/vList2"/>
    <dgm:cxn modelId="{147BA766-6998-44E0-B618-EFA94F46D273}" srcId="{BD9BCD1A-99A9-4D14-80B7-26A3ECE7189C}" destId="{9F813E1E-FE36-48E6-8611-9DE31053C0AA}" srcOrd="0" destOrd="0" parTransId="{C863DCBD-1276-4142-A49C-025EB46C07ED}" sibTransId="{9DC8D247-9FA5-4086-A0DB-D9FB2CA09477}"/>
    <dgm:cxn modelId="{51A77968-1F30-4D36-AA07-1CD1AE8C21CF}" srcId="{8A3E5C69-D1A5-44FD-839F-EC8BD25DD32B}" destId="{BD9BCD1A-99A9-4D14-80B7-26A3ECE7189C}" srcOrd="2" destOrd="0" parTransId="{5F46A08B-5335-4278-BDEB-1FD6A2BEA8F4}" sibTransId="{62300E42-7C46-4FBF-B583-10AECB936E31}"/>
    <dgm:cxn modelId="{4602A559-C160-4A3F-A09A-490D908B64A6}" type="presOf" srcId="{943C22C7-5711-4424-B51D-9F11290C7617}" destId="{D28675B0-7906-42DA-A548-D1BBE18DED8B}" srcOrd="0" destOrd="7" presId="urn:microsoft.com/office/officeart/2005/8/layout/vList2"/>
    <dgm:cxn modelId="{0C74C97B-61F6-4A8E-AE90-EE3E735E0276}" srcId="{8A3E5C69-D1A5-44FD-839F-EC8BD25DD32B}" destId="{172D26B5-8792-42C2-B792-75DD64BB624E}" srcOrd="1" destOrd="0" parTransId="{1B38ACD5-DA11-4790-B659-D5A33B61C51D}" sibTransId="{2C80B6A1-E7D0-4EE6-BB54-FF038AA673E3}"/>
    <dgm:cxn modelId="{57C2C18F-D36E-4338-A79E-E31595286D9B}" type="presOf" srcId="{B5DC8675-B748-4AC0-B05C-491D42DDCA11}" destId="{D28675B0-7906-42DA-A548-D1BBE18DED8B}" srcOrd="0" destOrd="6" presId="urn:microsoft.com/office/officeart/2005/8/layout/vList2"/>
    <dgm:cxn modelId="{57F1A193-9EA7-4CA2-A544-5A0E47AD1001}" type="presOf" srcId="{4DCC58B4-1429-4AFE-BBEA-4C75043548D8}" destId="{9EC7EA78-39AA-475F-8033-9BAD526555B2}" srcOrd="0" destOrd="0" presId="urn:microsoft.com/office/officeart/2005/8/layout/vList2"/>
    <dgm:cxn modelId="{8282BD96-F6B7-434D-A824-6D55C5568689}" type="presOf" srcId="{E65FF145-9B4C-4D29-93A6-824C62CAC9C7}" destId="{D28675B0-7906-42DA-A548-D1BBE18DED8B}" srcOrd="0" destOrd="0" presId="urn:microsoft.com/office/officeart/2005/8/layout/vList2"/>
    <dgm:cxn modelId="{EECEC9A6-E89F-4D16-80A9-E594C47EB732}" srcId="{172D26B5-8792-42C2-B792-75DD64BB624E}" destId="{E8A0FF59-F673-45B3-9348-F7D289394130}" srcOrd="0" destOrd="0" parTransId="{4DAF653D-0FE1-4E7D-B744-1D3A64BC718C}" sibTransId="{9893642D-D23E-4E7F-B99D-F72930CA4862}"/>
    <dgm:cxn modelId="{9AE50BA8-2AF6-432F-9EA8-6558C47F4299}" type="presOf" srcId="{E89E67FB-FB59-48E9-9597-31739054FD05}" destId="{D28675B0-7906-42DA-A548-D1BBE18DED8B}" srcOrd="0" destOrd="10" presId="urn:microsoft.com/office/officeart/2005/8/layout/vList2"/>
    <dgm:cxn modelId="{EEB784B3-DE2E-4A1C-8BE0-00CB2709E50C}" srcId="{8A3E5C69-D1A5-44FD-839F-EC8BD25DD32B}" destId="{E65FF145-9B4C-4D29-93A6-824C62CAC9C7}" srcOrd="0" destOrd="0" parTransId="{B6C10A05-499B-4587-817F-9392DB9F23FA}" sibTransId="{A19C11E4-39C1-4968-8271-4EC021EB18D6}"/>
    <dgm:cxn modelId="{7A30E2B3-9F03-4F4B-9D4F-423EF6BFE8DC}" type="presOf" srcId="{9F813E1E-FE36-48E6-8611-9DE31053C0AA}" destId="{D28675B0-7906-42DA-A548-D1BBE18DED8B}" srcOrd="0" destOrd="9" presId="urn:microsoft.com/office/officeart/2005/8/layout/vList2"/>
    <dgm:cxn modelId="{953FEEB4-53F9-4F4D-80A6-BB41A26BBE93}" srcId="{172D26B5-8792-42C2-B792-75DD64BB624E}" destId="{B5DC8675-B748-4AC0-B05C-491D42DDCA11}" srcOrd="1" destOrd="0" parTransId="{18CCAD61-221B-49D1-A5AE-0BCA267B0BF1}" sibTransId="{96FDBDCC-BC2D-4EFB-812D-71C7C85CC275}"/>
    <dgm:cxn modelId="{6DC285B6-0AC1-47A8-A5F6-BA0B1E70A88B}" srcId="{E65FF145-9B4C-4D29-93A6-824C62CAC9C7}" destId="{03DB05BB-ADE3-44A4-A1DA-7F84E2B8FEDD}" srcOrd="1" destOrd="0" parTransId="{C05DFC2A-327B-412E-9443-786B088FA61A}" sibTransId="{232D582E-FE56-450D-B6F8-5C561644873A}"/>
    <dgm:cxn modelId="{10CD5FC5-9E0F-4D92-BBFD-4DEDA3D5C49B}" type="presOf" srcId="{CBBC15FD-AFFD-46CA-8C16-1B6E6BDB58EB}" destId="{D28675B0-7906-42DA-A548-D1BBE18DED8B}" srcOrd="0" destOrd="11" presId="urn:microsoft.com/office/officeart/2005/8/layout/vList2"/>
    <dgm:cxn modelId="{19837FD1-5954-49F6-8DE7-5D3EAB565E24}" srcId="{E65FF145-9B4C-4D29-93A6-824C62CAC9C7}" destId="{405D7B08-C566-46AC-9071-6406642EEA9C}" srcOrd="0" destOrd="0" parTransId="{ABFC784E-B7FB-4F98-BF04-45BCE1D160C8}" sibTransId="{E5B9286B-487F-46CB-AE02-9B25D511B00D}"/>
    <dgm:cxn modelId="{DF813DDE-D5CB-484D-AF1E-6526695EEF85}" type="presOf" srcId="{220D2FB5-143D-45C2-AE16-FFC5B7FF575F}" destId="{D28675B0-7906-42DA-A548-D1BBE18DED8B}" srcOrd="0" destOrd="3" presId="urn:microsoft.com/office/officeart/2005/8/layout/vList2"/>
    <dgm:cxn modelId="{2F5D1DF3-E0C8-40A9-AF8B-AAD65445A5AA}" type="presOf" srcId="{172D26B5-8792-42C2-B792-75DD64BB624E}" destId="{D28675B0-7906-42DA-A548-D1BBE18DED8B}" srcOrd="0" destOrd="4" presId="urn:microsoft.com/office/officeart/2005/8/layout/vList2"/>
    <dgm:cxn modelId="{F9B6FA36-5CAA-473C-A9D1-178D3DE2B7BF}" type="presParOf" srcId="{9EC7EA78-39AA-475F-8033-9BAD526555B2}" destId="{D1B32CD4-DACA-474D-8D4F-AF890E394CBB}" srcOrd="0" destOrd="0" presId="urn:microsoft.com/office/officeart/2005/8/layout/vList2"/>
    <dgm:cxn modelId="{8F28EB9D-41BD-4C44-A252-EF4AA807AF0A}" type="presParOf" srcId="{9EC7EA78-39AA-475F-8033-9BAD526555B2}" destId="{D28675B0-7906-42DA-A548-D1BBE18DED8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A0C5AF-796B-4891-9EB7-A8C2C776A10F}">
      <dsp:nvSpPr>
        <dsp:cNvPr id="0" name=""/>
        <dsp:cNvSpPr/>
      </dsp:nvSpPr>
      <dsp:spPr>
        <a:xfrm>
          <a:off x="1251859" y="1201973"/>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Inbet</a:t>
          </a:r>
          <a:r>
            <a:rPr lang="en-US" sz="3000" kern="1200" dirty="0">
              <a:hlinkClick xmlns:r="http://schemas.openxmlformats.org/officeDocument/2006/relationships" r:id="rId1"/>
            </a:rPr>
            <a:t>.com</a:t>
          </a:r>
          <a:endParaRPr lang="en-US" sz="3000" kern="1200" dirty="0"/>
        </a:p>
      </dsp:txBody>
      <dsp:txXfrm>
        <a:off x="1626977" y="1201973"/>
        <a:ext cx="1969369" cy="1563773"/>
      </dsp:txXfrm>
    </dsp:sp>
    <dsp:sp modelId="{3CEB7BC0-4607-446C-8E53-DD29E652090E}">
      <dsp:nvSpPr>
        <dsp:cNvPr id="0" name=""/>
        <dsp:cNvSpPr/>
      </dsp:nvSpPr>
      <dsp:spPr>
        <a:xfrm>
          <a:off x="1251859" y="2765746"/>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err="1">
              <a:solidFill>
                <a:srgbClr val="F4EE00"/>
              </a:solidFill>
              <a:latin typeface="Trebuchet MS" panose="020B0603020202020204"/>
              <a:ea typeface="+mn-ea"/>
              <a:cs typeface="+mn-cs"/>
              <a:hlinkClick xmlns:r="http://schemas.openxmlformats.org/officeDocument/2006/relationships" r:id="rId2">
                <a:extLst>
                  <a:ext uri="{A12FA001-AC4F-418D-AE19-62706E023703}">
                    <ahyp:hlinkClr xmlns:ahyp="http://schemas.microsoft.com/office/drawing/2018/hyperlinkcolor" val="tx"/>
                  </a:ext>
                </a:extLst>
              </a:hlinkClick>
            </a:rPr>
            <a:t>Inbet</a:t>
          </a:r>
          <a:r>
            <a:rPr lang="bg-BG" sz="3000" kern="1200" dirty="0">
              <a:solidFill>
                <a:schemeClr val="tx2"/>
              </a:solidFill>
              <a:latin typeface="Trebuchet MS" panose="020B0603020202020204"/>
              <a:ea typeface="+mn-ea"/>
              <a:cs typeface="+mn-cs"/>
              <a:hlinkClick xmlns:r="http://schemas.openxmlformats.org/officeDocument/2006/relationships" r:id="rId2"/>
            </a:rPr>
            <a:t>.</a:t>
          </a:r>
          <a:r>
            <a:rPr lang="en-US" sz="3000" kern="1200" dirty="0">
              <a:solidFill>
                <a:schemeClr val="tx2"/>
              </a:solidFill>
              <a:latin typeface="Trebuchet MS" panose="020B0603020202020204"/>
              <a:ea typeface="+mn-ea"/>
              <a:cs typeface="+mn-cs"/>
              <a:hlinkClick xmlns:r="http://schemas.openxmlformats.org/officeDocument/2006/relationships" r:id="rId2"/>
            </a:rPr>
            <a:t>mx</a:t>
          </a:r>
          <a:endParaRPr lang="en-US" sz="3000" kern="1200" dirty="0">
            <a:solidFill>
              <a:schemeClr val="tx2"/>
            </a:solidFill>
            <a:latin typeface="Trebuchet MS" panose="020B0603020202020204"/>
            <a:ea typeface="+mn-ea"/>
            <a:cs typeface="+mn-cs"/>
          </a:endParaRPr>
        </a:p>
      </dsp:txBody>
      <dsp:txXfrm>
        <a:off x="1626977" y="2765746"/>
        <a:ext cx="1969369" cy="1563773"/>
      </dsp:txXfrm>
    </dsp:sp>
    <dsp:sp modelId="{65825059-EA62-4A80-B67A-CDA867F80CF1}">
      <dsp:nvSpPr>
        <dsp:cNvPr id="0" name=""/>
        <dsp:cNvSpPr/>
      </dsp:nvSpPr>
      <dsp:spPr>
        <a:xfrm>
          <a:off x="1465" y="576777"/>
          <a:ext cx="1562991" cy="1562991"/>
        </a:xfrm>
        <a:prstGeom prst="ellipse">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rgbClr val="FFFF00"/>
              </a:solidFill>
            </a:rPr>
            <a:t>Inbet</a:t>
          </a:r>
          <a:r>
            <a:rPr lang="en-US" sz="2800" kern="1200" dirty="0"/>
            <a:t> Online</a:t>
          </a:r>
        </a:p>
      </dsp:txBody>
      <dsp:txXfrm>
        <a:off x="230360" y="805672"/>
        <a:ext cx="1105201" cy="1105201"/>
      </dsp:txXfrm>
    </dsp:sp>
    <dsp:sp modelId="{1DD8956C-C880-437C-B147-99F803F98DC8}">
      <dsp:nvSpPr>
        <dsp:cNvPr id="0" name=""/>
        <dsp:cNvSpPr/>
      </dsp:nvSpPr>
      <dsp:spPr>
        <a:xfrm>
          <a:off x="5160803" y="1201973"/>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Gaming halls</a:t>
          </a:r>
        </a:p>
      </dsp:txBody>
      <dsp:txXfrm>
        <a:off x="5535921" y="1201973"/>
        <a:ext cx="1969369" cy="1563773"/>
      </dsp:txXfrm>
    </dsp:sp>
    <dsp:sp modelId="{33067B1B-C9E5-483C-A5DD-FB0A821D7561}">
      <dsp:nvSpPr>
        <dsp:cNvPr id="0" name=""/>
        <dsp:cNvSpPr/>
      </dsp:nvSpPr>
      <dsp:spPr>
        <a:xfrm>
          <a:off x="5159337" y="2765746"/>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Retails</a:t>
          </a:r>
        </a:p>
      </dsp:txBody>
      <dsp:txXfrm>
        <a:off x="5534455" y="2765746"/>
        <a:ext cx="1969369" cy="1563773"/>
      </dsp:txXfrm>
    </dsp:sp>
    <dsp:sp modelId="{F41C0044-393A-4FBC-B4D3-F9635BBDE383}">
      <dsp:nvSpPr>
        <dsp:cNvPr id="0" name=""/>
        <dsp:cNvSpPr/>
      </dsp:nvSpPr>
      <dsp:spPr>
        <a:xfrm>
          <a:off x="3908944" y="576777"/>
          <a:ext cx="1562991" cy="1562991"/>
        </a:xfrm>
        <a:prstGeom prst="ellipse">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rgbClr val="FFFF00"/>
              </a:solidFill>
            </a:rPr>
            <a:t>Inbet</a:t>
          </a:r>
          <a:r>
            <a:rPr lang="en-US" sz="2800" kern="1200" dirty="0"/>
            <a:t> Offline</a:t>
          </a:r>
        </a:p>
      </dsp:txBody>
      <dsp:txXfrm>
        <a:off x="4137839" y="805672"/>
        <a:ext cx="1105201" cy="11052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FF00"/>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Sport</a:t>
          </a:r>
          <a:endParaRPr lang="en-US" sz="1400" b="0" kern="1200" dirty="0">
            <a:solidFill>
              <a:schemeClr val="bg1"/>
            </a:solidFill>
          </a:endParaRP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Sport</a:t>
          </a:r>
          <a:endParaRPr lang="en-US" sz="1400" b="0" kern="1200" dirty="0">
            <a:solidFill>
              <a:schemeClr val="bg1"/>
            </a:solidFill>
          </a:endParaRP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KYC &amp; </a:t>
          </a:r>
          <a:r>
            <a:rPr lang="en-US" sz="1100" b="1" kern="1200" dirty="0">
              <a:solidFill>
                <a:srgbClr val="F4EE00"/>
              </a:solidFill>
            </a:rPr>
            <a:t>Payments</a:t>
          </a:r>
          <a:endParaRPr lang="en-US" sz="1600" b="1" kern="1200" dirty="0">
            <a:solidFill>
              <a:srgbClr val="F4EE00"/>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4EE00"/>
              </a:solidFill>
            </a:rPr>
            <a:t>Marketing</a:t>
          </a: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F4EE00"/>
              </a:solidFill>
            </a:rPr>
            <a:t>Project </a:t>
          </a:r>
          <a:r>
            <a:rPr lang="en-US" sz="800" b="1" kern="1200" dirty="0">
              <a:solidFill>
                <a:srgbClr val="F4EE00"/>
              </a:solidFill>
            </a:rPr>
            <a:t>management</a:t>
          </a:r>
          <a:endParaRPr lang="en-US" sz="1400" b="1" kern="1200" dirty="0">
            <a:solidFill>
              <a:srgbClr val="F4EE00"/>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Poker, Svara &amp; </a:t>
          </a:r>
          <a:r>
            <a:rPr lang="en-US" sz="1600" b="1" kern="1200" dirty="0" err="1">
              <a:solidFill>
                <a:srgbClr val="F4EE00"/>
              </a:solidFill>
            </a:rPr>
            <a:t>Tabla</a:t>
          </a:r>
          <a:endParaRPr lang="en-US" sz="1600" b="1" kern="1200" dirty="0">
            <a:solidFill>
              <a:srgbClr val="F4EE00"/>
            </a:solidFill>
          </a:endParaRPr>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b="0" kern="1200" dirty="0">
            <a:solidFill>
              <a:schemeClr val="bg1"/>
            </a:solidFill>
          </a:endParaRPr>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Admin</a:t>
          </a:r>
          <a:endParaRPr lang="en-US" sz="1400" b="1" kern="1200" dirty="0">
            <a:solidFill>
              <a:srgbClr val="F4EE00"/>
            </a:solidFill>
          </a:endParaRPr>
        </a:p>
      </dsp:txBody>
      <dsp:txXfrm>
        <a:off x="3248284" y="520633"/>
        <a:ext cx="710117" cy="7101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CEO</a:t>
          </a:r>
          <a:endParaRPr lang="en-US" sz="1800" b="1" kern="1200" dirty="0">
            <a:solidFill>
              <a:srgbClr val="F4EE00"/>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COO</a:t>
          </a:r>
          <a:endParaRPr lang="en-US" sz="1400" kern="1200" dirty="0"/>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CFO</a:t>
          </a:r>
          <a:endParaRPr lang="en-US" sz="1400" kern="1200" dirty="0"/>
        </a:p>
      </dsp:txBody>
      <dsp:txXfrm>
        <a:off x="2756146" y="4294316"/>
        <a:ext cx="1030036" cy="1030036"/>
      </dsp:txXfrm>
    </dsp:sp>
    <dsp:sp modelId="{E9251F9D-8996-4471-9F39-FFC45CA5427A}">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686DAC8A-50C1-402B-8F1B-55411E40802C}">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CMO</a:t>
          </a:r>
        </a:p>
      </dsp:txBody>
      <dsp:txXfrm>
        <a:off x="717050" y="2255220"/>
        <a:ext cx="1030036" cy="103003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COO</a:t>
          </a:r>
          <a:endParaRPr lang="en-US" sz="1400" b="1" kern="1200" dirty="0">
            <a:solidFill>
              <a:srgbClr val="F4EE00"/>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CFO</a:t>
          </a:r>
          <a:endParaRPr lang="en-US" sz="1400" kern="1200" dirty="0"/>
        </a:p>
      </dsp:txBody>
      <dsp:txXfrm>
        <a:off x="2756146" y="4294316"/>
        <a:ext cx="1030036" cy="1030036"/>
      </dsp:txXfrm>
    </dsp:sp>
    <dsp:sp modelId="{51CBBC31-EA09-437E-A065-5DFB13A2D7E8}">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D13ECB7A-86D9-4B02-B3EC-1A28C2083312}">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CMO</a:t>
          </a:r>
        </a:p>
      </dsp:txBody>
      <dsp:txXfrm>
        <a:off x="717050" y="2255220"/>
        <a:ext cx="1030036" cy="103003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COO</a:t>
          </a:r>
          <a:endParaRPr lang="en-US" sz="1400" kern="1200" dirty="0">
            <a:solidFill>
              <a:schemeClr val="bg1"/>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CFO</a:t>
          </a:r>
          <a:endParaRPr lang="en-US" sz="1400" b="1" kern="1200" dirty="0">
            <a:solidFill>
              <a:srgbClr val="F4EE00"/>
            </a:solidFill>
          </a:endParaRPr>
        </a:p>
      </dsp:txBody>
      <dsp:txXfrm>
        <a:off x="2756146" y="4294316"/>
        <a:ext cx="1030036" cy="1030036"/>
      </dsp:txXfrm>
    </dsp:sp>
    <dsp:sp modelId="{C0BA0A2F-9019-4CCA-9510-7803AF5E9484}">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F0F79613-3DAD-46C5-8ADA-25779C241E8E}">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CMO</a:t>
          </a:r>
          <a:endParaRPr lang="en-US" sz="1400" b="0" kern="1200" dirty="0">
            <a:solidFill>
              <a:schemeClr val="bg1"/>
            </a:solidFill>
          </a:endParaRPr>
        </a:p>
      </dsp:txBody>
      <dsp:txXfrm>
        <a:off x="717050" y="2255220"/>
        <a:ext cx="1030036" cy="103003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COO</a:t>
          </a:r>
          <a:endParaRPr lang="en-US" sz="1400" kern="1200" dirty="0">
            <a:solidFill>
              <a:schemeClr val="bg1"/>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prstClr val="white"/>
              </a:solidFill>
              <a:latin typeface="Trebuchet MS" panose="020B0603020202020204"/>
              <a:ea typeface="+mn-ea"/>
              <a:cs typeface="+mn-cs"/>
            </a:rPr>
            <a:t>CFO</a:t>
          </a:r>
        </a:p>
      </dsp:txBody>
      <dsp:txXfrm>
        <a:off x="2756146" y="4294316"/>
        <a:ext cx="1030036" cy="1030036"/>
      </dsp:txXfrm>
    </dsp:sp>
    <dsp:sp modelId="{C0BA0A2F-9019-4CCA-9510-7803AF5E9484}">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F0F79613-3DAD-46C5-8ADA-25779C241E8E}">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latin typeface="Trebuchet MS" panose="020B0603020202020204"/>
              <a:ea typeface="+mn-ea"/>
              <a:cs typeface="+mn-cs"/>
            </a:rPr>
            <a:t>CMO</a:t>
          </a:r>
        </a:p>
      </dsp:txBody>
      <dsp:txXfrm>
        <a:off x="717050" y="2255220"/>
        <a:ext cx="1030036" cy="103003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32CD4-DACA-474D-8D4F-AF890E394CBB}">
      <dsp:nvSpPr>
        <dsp:cNvPr id="0" name=""/>
        <dsp:cNvSpPr/>
      </dsp:nvSpPr>
      <dsp:spPr>
        <a:xfrm>
          <a:off x="0" y="266517"/>
          <a:ext cx="7550577" cy="81641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Best practices – </a:t>
          </a:r>
          <a:r>
            <a:rPr lang="en-US" sz="2400" b="1" kern="1200"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Jira</a:t>
          </a:r>
          <a:r>
            <a:rPr lang="en-US" sz="2400" kern="1200" dirty="0">
              <a:solidFill>
                <a:srgbClr val="F4EE00"/>
              </a:solidFill>
            </a:rPr>
            <a:t>  </a:t>
          </a:r>
        </a:p>
      </dsp:txBody>
      <dsp:txXfrm>
        <a:off x="39854" y="306371"/>
        <a:ext cx="7470869" cy="736703"/>
      </dsp:txXfrm>
    </dsp:sp>
    <dsp:sp modelId="{D28675B0-7906-42DA-A548-D1BBE18DED8B}">
      <dsp:nvSpPr>
        <dsp:cNvPr id="0" name=""/>
        <dsp:cNvSpPr/>
      </dsp:nvSpPr>
      <dsp:spPr>
        <a:xfrm>
          <a:off x="0" y="1072050"/>
          <a:ext cx="7550577" cy="3296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731" tIns="22860" rIns="128016" bIns="22860" numCol="1" spcCol="1270" anchor="t" anchorCtr="0">
          <a:noAutofit/>
        </a:bodyPr>
        <a:lstStyle/>
        <a:p>
          <a:pPr marL="171450" lvl="1" indent="-171450" algn="l" defTabSz="800100">
            <a:lnSpc>
              <a:spcPct val="90000"/>
            </a:lnSpc>
            <a:spcBef>
              <a:spcPct val="0"/>
            </a:spcBef>
            <a:spcAft>
              <a:spcPct val="20000"/>
            </a:spcAft>
            <a:buNone/>
          </a:pPr>
          <a:r>
            <a:rPr lang="en-US" sz="1800" b="1" kern="1200" dirty="0"/>
            <a:t>Start of Shift:</a:t>
          </a:r>
          <a:endParaRPr lang="en-US" sz="180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Review and prioritize tickets based on urgency and importance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Groom your backlog by cleaning out outdated tasks and ensuring items are relevant</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Check any tickets assigned to you and update their status if needed</a:t>
          </a:r>
        </a:p>
        <a:p>
          <a:pPr marL="171450" lvl="1" indent="-171450" algn="l" defTabSz="800100">
            <a:lnSpc>
              <a:spcPct val="90000"/>
            </a:lnSpc>
            <a:spcBef>
              <a:spcPct val="0"/>
            </a:spcBef>
            <a:spcAft>
              <a:spcPct val="20000"/>
            </a:spcAft>
            <a:buNone/>
          </a:pPr>
          <a:r>
            <a:rPr lang="en-US" sz="1800" b="1" kern="1200" dirty="0"/>
            <a:t>Mid-Shift: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Update ticket statuses to reflect current progress (To Do, In Progress, Code Review, etc.)</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Add comments to tickets with any new information or challenges encountered</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Link related work from other platforms to your Jira tickets for better visibility</a:t>
          </a:r>
        </a:p>
        <a:p>
          <a:pPr marL="171450" lvl="1" indent="-171450" algn="l" defTabSz="800100">
            <a:lnSpc>
              <a:spcPct val="90000"/>
            </a:lnSpc>
            <a:spcBef>
              <a:spcPct val="0"/>
            </a:spcBef>
            <a:spcAft>
              <a:spcPct val="20000"/>
            </a:spcAft>
            <a:buNone/>
          </a:pPr>
          <a:r>
            <a:rPr lang="en-US" sz="1800" b="1" kern="1200" dirty="0"/>
            <a:t>End of 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Ensure all completed work has the proper resolution status (not just moved to "Done")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Write clear descriptions for any new tickets created, including context and acceptance criteria</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Use labels and filters to organize tickets for the next day's work</a:t>
          </a:r>
        </a:p>
      </dsp:txBody>
      <dsp:txXfrm>
        <a:off x="0" y="1072050"/>
        <a:ext cx="7550577" cy="329647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32CD4-DACA-474D-8D4F-AF890E394CBB}">
      <dsp:nvSpPr>
        <dsp:cNvPr id="0" name=""/>
        <dsp:cNvSpPr/>
      </dsp:nvSpPr>
      <dsp:spPr>
        <a:xfrm>
          <a:off x="0" y="255639"/>
          <a:ext cx="7550577" cy="81641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Best practices – </a:t>
          </a:r>
          <a:r>
            <a:rPr lang="en-US" sz="2400" b="1" kern="1200" dirty="0">
              <a:solidFill>
                <a:srgbClr val="F4EE00"/>
              </a:solidFill>
            </a:rPr>
            <a:t>E-mail (Outlook)</a:t>
          </a:r>
        </a:p>
      </dsp:txBody>
      <dsp:txXfrm>
        <a:off x="39854" y="295493"/>
        <a:ext cx="7470869" cy="736703"/>
      </dsp:txXfrm>
    </dsp:sp>
    <dsp:sp modelId="{D28675B0-7906-42DA-A548-D1BBE18DED8B}">
      <dsp:nvSpPr>
        <dsp:cNvPr id="0" name=""/>
        <dsp:cNvSpPr/>
      </dsp:nvSpPr>
      <dsp:spPr>
        <a:xfrm>
          <a:off x="0" y="1072050"/>
          <a:ext cx="7550577" cy="3296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731" tIns="22860" rIns="128016" bIns="22860" numCol="1" spcCol="1270" anchor="t" anchorCtr="0">
          <a:noAutofit/>
        </a:bodyPr>
        <a:lstStyle/>
        <a:p>
          <a:pPr marL="171450" lvl="1" indent="-171450" algn="l" defTabSz="800100">
            <a:lnSpc>
              <a:spcPct val="90000"/>
            </a:lnSpc>
            <a:spcBef>
              <a:spcPct val="0"/>
            </a:spcBef>
            <a:spcAft>
              <a:spcPct val="20000"/>
            </a:spcAft>
            <a:buNone/>
          </a:pPr>
          <a:r>
            <a:rPr lang="en-US" sz="1800" b="1" kern="1200" dirty="0"/>
            <a:t>Start of Shift:</a:t>
          </a:r>
          <a:endParaRPr lang="en-US" sz="180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Process emails using the 4 Ds method: Delete, Do (if under 2 minutes), Delegate, or Defer</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Sort emails into action folders: Action Required, Waiting for Response, Reference, Archive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Handle quick responses immediately using the 1-minute rule</a:t>
          </a:r>
        </a:p>
        <a:p>
          <a:pPr marL="171450" lvl="1" indent="-171450" algn="l" defTabSz="800100">
            <a:lnSpc>
              <a:spcPct val="90000"/>
            </a:lnSpc>
            <a:spcBef>
              <a:spcPct val="0"/>
            </a:spcBef>
            <a:spcAft>
              <a:spcPct val="20000"/>
            </a:spcAft>
            <a:buNone/>
          </a:pPr>
          <a:r>
            <a:rPr lang="en-US" sz="1800" b="1" kern="1200" dirty="0"/>
            <a:t>Mid-Shift: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Check priority emails only and respond to time-sensitive messages</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Batch similar emails together (client inquiries, team updates) to process efficiently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Make emails clear and specific with bullet points to reduce follow-up questions</a:t>
          </a:r>
        </a:p>
        <a:p>
          <a:pPr marL="171450" lvl="1" indent="-171450" algn="l" defTabSz="800100">
            <a:lnSpc>
              <a:spcPct val="90000"/>
            </a:lnSpc>
            <a:spcBef>
              <a:spcPct val="0"/>
            </a:spcBef>
            <a:spcAft>
              <a:spcPct val="20000"/>
            </a:spcAft>
            <a:buNone/>
          </a:pPr>
          <a:r>
            <a:rPr lang="en-US" sz="1800" b="1" kern="1200" dirty="0"/>
            <a:t>End of 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Clear out emails that accumulated during the day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Organize your inbox with folders and filters for the next day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a:t>Use labels and filters to organize tickets for the next day's work</a:t>
          </a:r>
          <a:endParaRPr lang="en-US" sz="1400" b="0" i="0" kern="1200" dirty="0"/>
        </a:p>
      </dsp:txBody>
      <dsp:txXfrm>
        <a:off x="0" y="1072050"/>
        <a:ext cx="7550577" cy="3296475"/>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2AB32-5009-4353-8714-3FCD44A2DCB4}" type="datetimeFigureOut">
              <a:rPr lang="en-US" smtClean="0"/>
              <a:t>22-Jun-26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31FBF-4680-4014-A4BA-5DBD5FA2376C}" type="slidenum">
              <a:rPr lang="en-US" smtClean="0"/>
              <a:t>‹#›</a:t>
            </a:fld>
            <a:endParaRPr lang="en-US"/>
          </a:p>
        </p:txBody>
      </p:sp>
    </p:spTree>
    <p:extLst>
      <p:ext uri="{BB962C8B-B14F-4D97-AF65-F5344CB8AC3E}">
        <p14:creationId xmlns:p14="http://schemas.microsoft.com/office/powerpoint/2010/main" val="301177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31FBF-4680-4014-A4BA-5DBD5FA2376C}" type="slidenum">
              <a:rPr lang="en-US" smtClean="0"/>
              <a:t>1</a:t>
            </a:fld>
            <a:endParaRPr lang="en-US"/>
          </a:p>
        </p:txBody>
      </p:sp>
    </p:spTree>
    <p:extLst>
      <p:ext uri="{BB962C8B-B14F-4D97-AF65-F5344CB8AC3E}">
        <p14:creationId xmlns:p14="http://schemas.microsoft.com/office/powerpoint/2010/main" val="276494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31FBF-4680-4014-A4BA-5DBD5FA2376C}" type="slidenum">
              <a:rPr lang="en-US" smtClean="0"/>
              <a:t>2</a:t>
            </a:fld>
            <a:endParaRPr lang="en-US"/>
          </a:p>
        </p:txBody>
      </p:sp>
    </p:spTree>
    <p:extLst>
      <p:ext uri="{BB962C8B-B14F-4D97-AF65-F5344CB8AC3E}">
        <p14:creationId xmlns:p14="http://schemas.microsoft.com/office/powerpoint/2010/main" val="3322304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03AB-9E4F-6C4C-A423-263417C07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A95A1-6757-C3BF-D071-69E0314E4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4B921-5678-11D3-8E32-5542191F06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17B273-DFD3-04F1-CCCE-83739DD01BFB}"/>
              </a:ext>
            </a:extLst>
          </p:cNvPr>
          <p:cNvSpPr>
            <a:spLocks noGrp="1"/>
          </p:cNvSpPr>
          <p:nvPr>
            <p:ph type="sldNum" sz="quarter" idx="5"/>
          </p:nvPr>
        </p:nvSpPr>
        <p:spPr/>
        <p:txBody>
          <a:bodyPr/>
          <a:lstStyle/>
          <a:p>
            <a:fld id="{6B931FBF-4680-4014-A4BA-5DBD5FA2376C}" type="slidenum">
              <a:rPr lang="en-US" smtClean="0"/>
              <a:t>3</a:t>
            </a:fld>
            <a:endParaRPr lang="en-US"/>
          </a:p>
        </p:txBody>
      </p:sp>
    </p:spTree>
    <p:extLst>
      <p:ext uri="{BB962C8B-B14F-4D97-AF65-F5344CB8AC3E}">
        <p14:creationId xmlns:p14="http://schemas.microsoft.com/office/powerpoint/2010/main" val="4000177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3C32-473C-6885-DF66-380855225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81304-0848-4729-C275-390B2B498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A11AA-D0F6-14D1-845B-E4C8F6EC78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0092A-C8D5-87F8-82F0-1A6102C2B3E8}"/>
              </a:ext>
            </a:extLst>
          </p:cNvPr>
          <p:cNvSpPr>
            <a:spLocks noGrp="1"/>
          </p:cNvSpPr>
          <p:nvPr>
            <p:ph type="sldNum" sz="quarter" idx="5"/>
          </p:nvPr>
        </p:nvSpPr>
        <p:spPr/>
        <p:txBody>
          <a:bodyPr/>
          <a:lstStyle/>
          <a:p>
            <a:fld id="{6B931FBF-4680-4014-A4BA-5DBD5FA2376C}" type="slidenum">
              <a:rPr lang="en-US" smtClean="0"/>
              <a:t>4</a:t>
            </a:fld>
            <a:endParaRPr lang="en-US"/>
          </a:p>
        </p:txBody>
      </p:sp>
    </p:spTree>
    <p:extLst>
      <p:ext uri="{BB962C8B-B14F-4D97-AF65-F5344CB8AC3E}">
        <p14:creationId xmlns:p14="http://schemas.microsoft.com/office/powerpoint/2010/main" val="2625463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9B853-7448-A78B-B622-70BC7C26C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5350E-A2D4-B427-2854-3E84BA80F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219E0-3AE4-6D68-7976-24F1867FB2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99158-5A29-E5F8-0FC9-91D4EDCC6C6D}"/>
              </a:ext>
            </a:extLst>
          </p:cNvPr>
          <p:cNvSpPr>
            <a:spLocks noGrp="1"/>
          </p:cNvSpPr>
          <p:nvPr>
            <p:ph type="sldNum" sz="quarter" idx="5"/>
          </p:nvPr>
        </p:nvSpPr>
        <p:spPr/>
        <p:txBody>
          <a:bodyPr/>
          <a:lstStyle/>
          <a:p>
            <a:fld id="{6B931FBF-4680-4014-A4BA-5DBD5FA2376C}" type="slidenum">
              <a:rPr lang="en-US" smtClean="0"/>
              <a:t>5</a:t>
            </a:fld>
            <a:endParaRPr lang="en-US"/>
          </a:p>
        </p:txBody>
      </p:sp>
    </p:spTree>
    <p:extLst>
      <p:ext uri="{BB962C8B-B14F-4D97-AF65-F5344CB8AC3E}">
        <p14:creationId xmlns:p14="http://schemas.microsoft.com/office/powerpoint/2010/main" val="4065163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15C74-98BD-25CE-63EC-134DF4A76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CE6B2-64C5-9641-EEF0-36CAAE0BA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C7738-171F-4B4C-C73C-461CCA2B55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7E289C-8806-EC07-57FE-A29DD5B511FD}"/>
              </a:ext>
            </a:extLst>
          </p:cNvPr>
          <p:cNvSpPr>
            <a:spLocks noGrp="1"/>
          </p:cNvSpPr>
          <p:nvPr>
            <p:ph type="sldNum" sz="quarter" idx="5"/>
          </p:nvPr>
        </p:nvSpPr>
        <p:spPr/>
        <p:txBody>
          <a:bodyPr/>
          <a:lstStyle/>
          <a:p>
            <a:fld id="{6B931FBF-4680-4014-A4BA-5DBD5FA2376C}" type="slidenum">
              <a:rPr lang="en-US" smtClean="0"/>
              <a:t>6</a:t>
            </a:fld>
            <a:endParaRPr lang="en-US"/>
          </a:p>
        </p:txBody>
      </p:sp>
    </p:spTree>
    <p:extLst>
      <p:ext uri="{BB962C8B-B14F-4D97-AF65-F5344CB8AC3E}">
        <p14:creationId xmlns:p14="http://schemas.microsoft.com/office/powerpoint/2010/main" val="2537225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1D4F4-A495-75D1-18F6-4EDD24523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7914D-01A6-F4A4-6622-B6D34C77E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0366A-DC63-588A-3698-F03D4A412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28473D-33F5-C6E6-260B-F734B7F7A82F}"/>
              </a:ext>
            </a:extLst>
          </p:cNvPr>
          <p:cNvSpPr>
            <a:spLocks noGrp="1"/>
          </p:cNvSpPr>
          <p:nvPr>
            <p:ph type="sldNum" sz="quarter" idx="5"/>
          </p:nvPr>
        </p:nvSpPr>
        <p:spPr/>
        <p:txBody>
          <a:bodyPr/>
          <a:lstStyle/>
          <a:p>
            <a:fld id="{6B931FBF-4680-4014-A4BA-5DBD5FA2376C}" type="slidenum">
              <a:rPr lang="en-US" smtClean="0"/>
              <a:t>7</a:t>
            </a:fld>
            <a:endParaRPr lang="en-US"/>
          </a:p>
        </p:txBody>
      </p:sp>
    </p:spTree>
    <p:extLst>
      <p:ext uri="{BB962C8B-B14F-4D97-AF65-F5344CB8AC3E}">
        <p14:creationId xmlns:p14="http://schemas.microsoft.com/office/powerpoint/2010/main" val="3480963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31B4-FD62-A6C4-913E-4A2521BAF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6522E-5E5D-F1B2-6C6F-9F06C546F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D20CD-7EEF-C8BE-BFBA-9946661549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9095A-6C8B-DAD8-4C70-2D43C4A20581}"/>
              </a:ext>
            </a:extLst>
          </p:cNvPr>
          <p:cNvSpPr>
            <a:spLocks noGrp="1"/>
          </p:cNvSpPr>
          <p:nvPr>
            <p:ph type="sldNum" sz="quarter" idx="5"/>
          </p:nvPr>
        </p:nvSpPr>
        <p:spPr/>
        <p:txBody>
          <a:bodyPr/>
          <a:lstStyle/>
          <a:p>
            <a:fld id="{6B931FBF-4680-4014-A4BA-5DBD5FA2376C}" type="slidenum">
              <a:rPr lang="en-US" smtClean="0"/>
              <a:t>8</a:t>
            </a:fld>
            <a:endParaRPr lang="en-US"/>
          </a:p>
        </p:txBody>
      </p:sp>
    </p:spTree>
    <p:extLst>
      <p:ext uri="{BB962C8B-B14F-4D97-AF65-F5344CB8AC3E}">
        <p14:creationId xmlns:p14="http://schemas.microsoft.com/office/powerpoint/2010/main" val="68428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DA3C7-A679-CC32-B4C3-88F59D21F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04B18-3BAD-D125-906B-46CFB53D4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0B2EB-3110-0B03-595B-0DBE6452B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467683-0C2F-555F-2DEB-D072E22878D7}"/>
              </a:ext>
            </a:extLst>
          </p:cNvPr>
          <p:cNvSpPr>
            <a:spLocks noGrp="1"/>
          </p:cNvSpPr>
          <p:nvPr>
            <p:ph type="sldNum" sz="quarter" idx="5"/>
          </p:nvPr>
        </p:nvSpPr>
        <p:spPr/>
        <p:txBody>
          <a:bodyPr/>
          <a:lstStyle/>
          <a:p>
            <a:fld id="{6B931FBF-4680-4014-A4BA-5DBD5FA2376C}" type="slidenum">
              <a:rPr lang="en-US" smtClean="0"/>
              <a:t>9</a:t>
            </a:fld>
            <a:endParaRPr lang="en-US"/>
          </a:p>
        </p:txBody>
      </p:sp>
    </p:spTree>
    <p:extLst>
      <p:ext uri="{BB962C8B-B14F-4D97-AF65-F5344CB8AC3E}">
        <p14:creationId xmlns:p14="http://schemas.microsoft.com/office/powerpoint/2010/main" val="193231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25D08-5782-B4EF-34D0-35F832F3E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85115-8D99-4272-B962-C44FA1556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6990E-1C5D-86C5-5419-5840275BE8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42DDC-0351-60CC-0D31-09E81BAC20BB}"/>
              </a:ext>
            </a:extLst>
          </p:cNvPr>
          <p:cNvSpPr>
            <a:spLocks noGrp="1"/>
          </p:cNvSpPr>
          <p:nvPr>
            <p:ph type="sldNum" sz="quarter" idx="5"/>
          </p:nvPr>
        </p:nvSpPr>
        <p:spPr/>
        <p:txBody>
          <a:bodyPr/>
          <a:lstStyle/>
          <a:p>
            <a:fld id="{6B931FBF-4680-4014-A4BA-5DBD5FA2376C}" type="slidenum">
              <a:rPr lang="en-US" smtClean="0"/>
              <a:t>10</a:t>
            </a:fld>
            <a:endParaRPr lang="en-US"/>
          </a:p>
        </p:txBody>
      </p:sp>
    </p:spTree>
    <p:extLst>
      <p:ext uri="{BB962C8B-B14F-4D97-AF65-F5344CB8AC3E}">
        <p14:creationId xmlns:p14="http://schemas.microsoft.com/office/powerpoint/2010/main" val="224504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47B2-BD31-1BCF-052F-F8EC2994A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65AA8-9735-D166-A088-4D60CBA1A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F99A1-395D-B490-F857-58131128D9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9533B3-C459-6D44-203E-002AF4E536DF}"/>
              </a:ext>
            </a:extLst>
          </p:cNvPr>
          <p:cNvSpPr>
            <a:spLocks noGrp="1"/>
          </p:cNvSpPr>
          <p:nvPr>
            <p:ph type="sldNum" sz="quarter" idx="5"/>
          </p:nvPr>
        </p:nvSpPr>
        <p:spPr/>
        <p:txBody>
          <a:bodyPr/>
          <a:lstStyle/>
          <a:p>
            <a:fld id="{6B931FBF-4680-4014-A4BA-5DBD5FA2376C}" type="slidenum">
              <a:rPr lang="en-US" smtClean="0"/>
              <a:t>11</a:t>
            </a:fld>
            <a:endParaRPr lang="en-US"/>
          </a:p>
        </p:txBody>
      </p:sp>
    </p:spTree>
    <p:extLst>
      <p:ext uri="{BB962C8B-B14F-4D97-AF65-F5344CB8AC3E}">
        <p14:creationId xmlns:p14="http://schemas.microsoft.com/office/powerpoint/2010/main" val="3820727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CE696-EFBC-7106-E0BC-1771970A0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C43B1-F080-4AA4-1AB7-C45C85599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C79A1-D5DC-F9C1-D38E-925D1DCA9E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C12AE-CB12-ABA3-32E0-E89443E6C95C}"/>
              </a:ext>
            </a:extLst>
          </p:cNvPr>
          <p:cNvSpPr>
            <a:spLocks noGrp="1"/>
          </p:cNvSpPr>
          <p:nvPr>
            <p:ph type="sldNum" sz="quarter" idx="5"/>
          </p:nvPr>
        </p:nvSpPr>
        <p:spPr/>
        <p:txBody>
          <a:bodyPr/>
          <a:lstStyle/>
          <a:p>
            <a:fld id="{6B931FBF-4680-4014-A4BA-5DBD5FA2376C}" type="slidenum">
              <a:rPr lang="en-US" smtClean="0"/>
              <a:t>12</a:t>
            </a:fld>
            <a:endParaRPr lang="en-US"/>
          </a:p>
        </p:txBody>
      </p:sp>
    </p:spTree>
    <p:extLst>
      <p:ext uri="{BB962C8B-B14F-4D97-AF65-F5344CB8AC3E}">
        <p14:creationId xmlns:p14="http://schemas.microsoft.com/office/powerpoint/2010/main" val="1155826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89CC2-FC20-EBD2-ED13-5AC8AE57D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7E845-96E2-08A0-9735-7D6B07642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24134-60A3-0F91-4548-63893D96DB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666A5C-487E-E8EF-49FB-3ACB7EBC87FA}"/>
              </a:ext>
            </a:extLst>
          </p:cNvPr>
          <p:cNvSpPr>
            <a:spLocks noGrp="1"/>
          </p:cNvSpPr>
          <p:nvPr>
            <p:ph type="sldNum" sz="quarter" idx="5"/>
          </p:nvPr>
        </p:nvSpPr>
        <p:spPr/>
        <p:txBody>
          <a:bodyPr/>
          <a:lstStyle/>
          <a:p>
            <a:fld id="{6B931FBF-4680-4014-A4BA-5DBD5FA2376C}" type="slidenum">
              <a:rPr lang="en-US" smtClean="0"/>
              <a:t>13</a:t>
            </a:fld>
            <a:endParaRPr lang="en-US"/>
          </a:p>
        </p:txBody>
      </p:sp>
    </p:spTree>
    <p:extLst>
      <p:ext uri="{BB962C8B-B14F-4D97-AF65-F5344CB8AC3E}">
        <p14:creationId xmlns:p14="http://schemas.microsoft.com/office/powerpoint/2010/main" val="1604527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620A-D93A-90A1-F94E-99F188397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21330-7242-A0E3-42D9-4AF8A5297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7A813-AACE-C0E0-EE0A-E265A4AD40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90BFE3-DEAB-4757-651D-20526B38FA8A}"/>
              </a:ext>
            </a:extLst>
          </p:cNvPr>
          <p:cNvSpPr>
            <a:spLocks noGrp="1"/>
          </p:cNvSpPr>
          <p:nvPr>
            <p:ph type="sldNum" sz="quarter" idx="5"/>
          </p:nvPr>
        </p:nvSpPr>
        <p:spPr/>
        <p:txBody>
          <a:bodyPr/>
          <a:lstStyle/>
          <a:p>
            <a:fld id="{6B931FBF-4680-4014-A4BA-5DBD5FA2376C}" type="slidenum">
              <a:rPr lang="en-US" smtClean="0"/>
              <a:t>14</a:t>
            </a:fld>
            <a:endParaRPr lang="en-US"/>
          </a:p>
        </p:txBody>
      </p:sp>
    </p:spTree>
    <p:extLst>
      <p:ext uri="{BB962C8B-B14F-4D97-AF65-F5344CB8AC3E}">
        <p14:creationId xmlns:p14="http://schemas.microsoft.com/office/powerpoint/2010/main" val="133075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C43D-7C5E-8DA7-C0D0-A1F53FA7B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41DB6-68D8-133D-9E6D-C7CF4383A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5F476-D2C3-29EF-5AB3-6284678061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CE2DD5-FA90-29F0-D228-ADF9CF907B15}"/>
              </a:ext>
            </a:extLst>
          </p:cNvPr>
          <p:cNvSpPr>
            <a:spLocks noGrp="1"/>
          </p:cNvSpPr>
          <p:nvPr>
            <p:ph type="sldNum" sz="quarter" idx="5"/>
          </p:nvPr>
        </p:nvSpPr>
        <p:spPr/>
        <p:txBody>
          <a:bodyPr/>
          <a:lstStyle/>
          <a:p>
            <a:fld id="{6B931FBF-4680-4014-A4BA-5DBD5FA2376C}" type="slidenum">
              <a:rPr lang="en-US" smtClean="0"/>
              <a:t>15</a:t>
            </a:fld>
            <a:endParaRPr lang="en-US"/>
          </a:p>
        </p:txBody>
      </p:sp>
    </p:spTree>
    <p:extLst>
      <p:ext uri="{BB962C8B-B14F-4D97-AF65-F5344CB8AC3E}">
        <p14:creationId xmlns:p14="http://schemas.microsoft.com/office/powerpoint/2010/main" val="649031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16469-5E76-7E15-7D80-E01AF2D02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BEB7C-F9CB-58D1-D3E9-AA1E86BBD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852B6-0079-EF88-76C8-19E498ACD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D38E2F-6B8C-D370-B32A-A9B084FEFC4D}"/>
              </a:ext>
            </a:extLst>
          </p:cNvPr>
          <p:cNvSpPr>
            <a:spLocks noGrp="1"/>
          </p:cNvSpPr>
          <p:nvPr>
            <p:ph type="sldNum" sz="quarter" idx="5"/>
          </p:nvPr>
        </p:nvSpPr>
        <p:spPr/>
        <p:txBody>
          <a:bodyPr/>
          <a:lstStyle/>
          <a:p>
            <a:fld id="{6B931FBF-4680-4014-A4BA-5DBD5FA2376C}" type="slidenum">
              <a:rPr lang="en-US" smtClean="0"/>
              <a:t>16</a:t>
            </a:fld>
            <a:endParaRPr lang="en-US"/>
          </a:p>
        </p:txBody>
      </p:sp>
    </p:spTree>
    <p:extLst>
      <p:ext uri="{BB962C8B-B14F-4D97-AF65-F5344CB8AC3E}">
        <p14:creationId xmlns:p14="http://schemas.microsoft.com/office/powerpoint/2010/main" val="1856410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41D59-9C62-354C-EEBB-FD5882BDD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33389-945E-E6A1-DAC1-BE8C071D6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A509B-2B1D-66B9-1429-A0B0B80112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185E1-5295-E8D1-67A0-8AE2130AF070}"/>
              </a:ext>
            </a:extLst>
          </p:cNvPr>
          <p:cNvSpPr>
            <a:spLocks noGrp="1"/>
          </p:cNvSpPr>
          <p:nvPr>
            <p:ph type="sldNum" sz="quarter" idx="5"/>
          </p:nvPr>
        </p:nvSpPr>
        <p:spPr/>
        <p:txBody>
          <a:bodyPr/>
          <a:lstStyle/>
          <a:p>
            <a:fld id="{6B931FBF-4680-4014-A4BA-5DBD5FA2376C}" type="slidenum">
              <a:rPr lang="en-US" smtClean="0"/>
              <a:t>17</a:t>
            </a:fld>
            <a:endParaRPr lang="en-US"/>
          </a:p>
        </p:txBody>
      </p:sp>
    </p:spTree>
    <p:extLst>
      <p:ext uri="{BB962C8B-B14F-4D97-AF65-F5344CB8AC3E}">
        <p14:creationId xmlns:p14="http://schemas.microsoft.com/office/powerpoint/2010/main" val="3855861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8DC55-013B-86BA-3A7C-7DF5B784D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EB906-FF53-70B6-96FE-BEA8E5F44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C7E35-1225-D8AF-A970-2BC5A57323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05447E-8BC1-BAF2-BCCF-168998F65005}"/>
              </a:ext>
            </a:extLst>
          </p:cNvPr>
          <p:cNvSpPr>
            <a:spLocks noGrp="1"/>
          </p:cNvSpPr>
          <p:nvPr>
            <p:ph type="sldNum" sz="quarter" idx="5"/>
          </p:nvPr>
        </p:nvSpPr>
        <p:spPr/>
        <p:txBody>
          <a:bodyPr/>
          <a:lstStyle/>
          <a:p>
            <a:fld id="{6B931FBF-4680-4014-A4BA-5DBD5FA2376C}" type="slidenum">
              <a:rPr lang="en-US" smtClean="0"/>
              <a:t>18</a:t>
            </a:fld>
            <a:endParaRPr lang="en-US"/>
          </a:p>
        </p:txBody>
      </p:sp>
    </p:spTree>
    <p:extLst>
      <p:ext uri="{BB962C8B-B14F-4D97-AF65-F5344CB8AC3E}">
        <p14:creationId xmlns:p14="http://schemas.microsoft.com/office/powerpoint/2010/main" val="3507079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DDB74-71D9-3D0E-DB49-773F5DBEB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32C1B-A210-13EE-32E5-DB6F0145D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365A3-E9D2-94F6-617E-4F66A0A97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2E8974-9558-1C48-ECAE-801B8A947EF8}"/>
              </a:ext>
            </a:extLst>
          </p:cNvPr>
          <p:cNvSpPr>
            <a:spLocks noGrp="1"/>
          </p:cNvSpPr>
          <p:nvPr>
            <p:ph type="sldNum" sz="quarter" idx="5"/>
          </p:nvPr>
        </p:nvSpPr>
        <p:spPr/>
        <p:txBody>
          <a:bodyPr/>
          <a:lstStyle/>
          <a:p>
            <a:fld id="{6B931FBF-4680-4014-A4BA-5DBD5FA2376C}" type="slidenum">
              <a:rPr lang="en-US" smtClean="0"/>
              <a:t>19</a:t>
            </a:fld>
            <a:endParaRPr lang="en-US"/>
          </a:p>
        </p:txBody>
      </p:sp>
    </p:spTree>
    <p:extLst>
      <p:ext uri="{BB962C8B-B14F-4D97-AF65-F5344CB8AC3E}">
        <p14:creationId xmlns:p14="http://schemas.microsoft.com/office/powerpoint/2010/main" val="3947949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2578D-70BB-98D0-5DF4-8E3A4FC38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0B2FD-F6B9-801F-6EBB-746CA4253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A612D-423F-6788-028A-9785F1DA07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B46E7A-0327-1C57-7093-E7042FB128F9}"/>
              </a:ext>
            </a:extLst>
          </p:cNvPr>
          <p:cNvSpPr>
            <a:spLocks noGrp="1"/>
          </p:cNvSpPr>
          <p:nvPr>
            <p:ph type="sldNum" sz="quarter" idx="5"/>
          </p:nvPr>
        </p:nvSpPr>
        <p:spPr/>
        <p:txBody>
          <a:bodyPr/>
          <a:lstStyle/>
          <a:p>
            <a:fld id="{6B931FBF-4680-4014-A4BA-5DBD5FA2376C}" type="slidenum">
              <a:rPr lang="en-US" smtClean="0"/>
              <a:t>20</a:t>
            </a:fld>
            <a:endParaRPr lang="en-US"/>
          </a:p>
        </p:txBody>
      </p:sp>
    </p:spTree>
    <p:extLst>
      <p:ext uri="{BB962C8B-B14F-4D97-AF65-F5344CB8AC3E}">
        <p14:creationId xmlns:p14="http://schemas.microsoft.com/office/powerpoint/2010/main" val="888060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3F900-9BE1-3AF3-B982-02A4D4A7F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D7C4C-9E24-2446-520E-F304D355B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EE8F2-4CDD-498B-8906-5A083F0FBE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09554-9F89-532E-5830-1497A6BCF3B3}"/>
              </a:ext>
            </a:extLst>
          </p:cNvPr>
          <p:cNvSpPr>
            <a:spLocks noGrp="1"/>
          </p:cNvSpPr>
          <p:nvPr>
            <p:ph type="sldNum" sz="quarter" idx="5"/>
          </p:nvPr>
        </p:nvSpPr>
        <p:spPr/>
        <p:txBody>
          <a:bodyPr/>
          <a:lstStyle/>
          <a:p>
            <a:fld id="{6B931FBF-4680-4014-A4BA-5DBD5FA2376C}" type="slidenum">
              <a:rPr lang="en-US" smtClean="0"/>
              <a:t>21</a:t>
            </a:fld>
            <a:endParaRPr lang="en-US"/>
          </a:p>
        </p:txBody>
      </p:sp>
    </p:spTree>
    <p:extLst>
      <p:ext uri="{BB962C8B-B14F-4D97-AF65-F5344CB8AC3E}">
        <p14:creationId xmlns:p14="http://schemas.microsoft.com/office/powerpoint/2010/main" val="3257962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0D795-DF54-AAD2-396D-790804CEE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34E42-8886-11E7-9F81-33184ABB9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A66C5-9292-BC5F-A18E-32A4D6EF10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C1FEB6-457F-A5A8-BED8-E02FD367E182}"/>
              </a:ext>
            </a:extLst>
          </p:cNvPr>
          <p:cNvSpPr>
            <a:spLocks noGrp="1"/>
          </p:cNvSpPr>
          <p:nvPr>
            <p:ph type="sldNum" sz="quarter" idx="5"/>
          </p:nvPr>
        </p:nvSpPr>
        <p:spPr/>
        <p:txBody>
          <a:bodyPr/>
          <a:lstStyle/>
          <a:p>
            <a:fld id="{6B931FBF-4680-4014-A4BA-5DBD5FA2376C}" type="slidenum">
              <a:rPr lang="en-US" smtClean="0"/>
              <a:t>22</a:t>
            </a:fld>
            <a:endParaRPr lang="en-US"/>
          </a:p>
        </p:txBody>
      </p:sp>
    </p:spTree>
    <p:extLst>
      <p:ext uri="{BB962C8B-B14F-4D97-AF65-F5344CB8AC3E}">
        <p14:creationId xmlns:p14="http://schemas.microsoft.com/office/powerpoint/2010/main" val="1895801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F0D03-DBDD-B60D-3243-7D638F5F3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5D5A1-BF3F-F339-3241-1EACF28CA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05439-50FD-8B0B-A794-1A4085CCE0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30221-BE8C-8AB3-8C3D-ABA6E668CFB5}"/>
              </a:ext>
            </a:extLst>
          </p:cNvPr>
          <p:cNvSpPr>
            <a:spLocks noGrp="1"/>
          </p:cNvSpPr>
          <p:nvPr>
            <p:ph type="sldNum" sz="quarter" idx="5"/>
          </p:nvPr>
        </p:nvSpPr>
        <p:spPr/>
        <p:txBody>
          <a:bodyPr/>
          <a:lstStyle/>
          <a:p>
            <a:fld id="{6B931FBF-4680-4014-A4BA-5DBD5FA2376C}" type="slidenum">
              <a:rPr lang="en-US" smtClean="0"/>
              <a:t>23</a:t>
            </a:fld>
            <a:endParaRPr lang="en-US"/>
          </a:p>
        </p:txBody>
      </p:sp>
    </p:spTree>
    <p:extLst>
      <p:ext uri="{BB962C8B-B14F-4D97-AF65-F5344CB8AC3E}">
        <p14:creationId xmlns:p14="http://schemas.microsoft.com/office/powerpoint/2010/main" val="9471125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pic>
        <p:nvPicPr>
          <p:cNvPr id="9" name="Picture 8" descr="A yellow and black logo&#10;&#10;AI-generated content may be incorrect.">
            <a:extLst>
              <a:ext uri="{FF2B5EF4-FFF2-40B4-BE49-F238E27FC236}">
                <a16:creationId xmlns:a16="http://schemas.microsoft.com/office/drawing/2014/main" id="{9698CBA8-0731-7EA5-F4CD-11EB5BCD8B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95094" y="6406487"/>
            <a:ext cx="937633" cy="311763"/>
          </a:xfrm>
          <a:prstGeom prst="rect">
            <a:avLst/>
          </a:prstGeom>
        </p:spPr>
      </p:pic>
    </p:spTree>
    <p:extLst>
      <p:ext uri="{BB962C8B-B14F-4D97-AF65-F5344CB8AC3E}">
        <p14:creationId xmlns:p14="http://schemas.microsoft.com/office/powerpoint/2010/main" val="20871561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5148498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9999666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2F3A93-D705-473E-934B-9C7663E121BC}"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4640967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2F3A93-D705-473E-934B-9C7663E121BC}" type="datetimeFigureOut">
              <a:rPr lang="en-US" smtClean="0"/>
              <a:t>22-Jun-26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616562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2F3A93-D705-473E-934B-9C7663E121BC}" type="datetimeFigureOut">
              <a:rPr lang="en-US" smtClean="0"/>
              <a:t>22-Jun-26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3441621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2F3A93-D705-473E-934B-9C7663E121BC}" type="datetimeFigureOut">
              <a:rPr lang="en-US" smtClean="0"/>
              <a:t>22-Jun-26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1601721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2F3A93-D705-473E-934B-9C7663E121BC}" type="datetimeFigureOut">
              <a:rPr lang="en-US" smtClean="0"/>
              <a:t>22-Jun-26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7625851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
        <p:nvSpPr>
          <p:cNvPr id="5" name="Date Placeholder 4"/>
          <p:cNvSpPr>
            <a:spLocks noGrp="1"/>
          </p:cNvSpPr>
          <p:nvPr>
            <p:ph type="dt" sz="half" idx="10"/>
          </p:nvPr>
        </p:nvSpPr>
        <p:spPr/>
        <p:txBody>
          <a:bodyPr/>
          <a:lstStyle/>
          <a:p>
            <a:fld id="{5F2F3A93-D705-473E-934B-9C7663E121BC}" type="datetimeFigureOut">
              <a:rPr lang="en-US" smtClean="0"/>
              <a:t>22-Jun-26</a:t>
            </a:fld>
            <a:endParaRPr lang="en-US"/>
          </a:p>
        </p:txBody>
      </p:sp>
    </p:spTree>
    <p:extLst>
      <p:ext uri="{BB962C8B-B14F-4D97-AF65-F5344CB8AC3E}">
        <p14:creationId xmlns:p14="http://schemas.microsoft.com/office/powerpoint/2010/main" val="2413314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288126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00913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1594038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152884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40078408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033342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22-Jun-26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1631832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F2F3A93-D705-473E-934B-9C7663E121BC}" type="datetimeFigureOut">
              <a:rPr lang="en-US" smtClean="0"/>
              <a:t>22-Jun-26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C263D0E-CD13-4DFF-ACEC-29C39B651815}" type="slidenum">
              <a:rPr lang="en-US" smtClean="0"/>
              <a:t>‹#›</a:t>
            </a:fld>
            <a:endParaRPr lang="en-US"/>
          </a:p>
        </p:txBody>
      </p:sp>
      <p:sp>
        <p:nvSpPr>
          <p:cNvPr id="7" name="TextBox 6">
            <a:extLst>
              <a:ext uri="{FF2B5EF4-FFF2-40B4-BE49-F238E27FC236}">
                <a16:creationId xmlns:a16="http://schemas.microsoft.com/office/drawing/2014/main" id="{A8A13366-D978-A65B-52D6-C6146FB692A9}"/>
              </a:ext>
            </a:extLst>
          </p:cNvPr>
          <p:cNvSpPr txBox="1"/>
          <p:nvPr userDrawn="1"/>
        </p:nvSpPr>
        <p:spPr>
          <a:xfrm>
            <a:off x="11327140" y="6406487"/>
            <a:ext cx="891934" cy="400110"/>
          </a:xfrm>
          <a:prstGeom prst="rect">
            <a:avLst/>
          </a:prstGeom>
          <a:noFill/>
        </p:spPr>
        <p:txBody>
          <a:bodyPr wrap="square" rtlCol="0">
            <a:spAutoFit/>
          </a:bodyPr>
          <a:lstStyle/>
          <a:p>
            <a:r>
              <a:rPr lang="en-US" sz="2000" b="1" dirty="0" err="1">
                <a:solidFill>
                  <a:srgbClr val="F4EE00"/>
                </a:solidFill>
              </a:rPr>
              <a:t>inbet</a:t>
            </a:r>
            <a:endParaRPr lang="en-US" sz="2000" b="1" dirty="0">
              <a:solidFill>
                <a:srgbClr val="F4EE00"/>
              </a:solidFill>
            </a:endParaRPr>
          </a:p>
        </p:txBody>
      </p:sp>
    </p:spTree>
    <p:extLst>
      <p:ext uri="{BB962C8B-B14F-4D97-AF65-F5344CB8AC3E}">
        <p14:creationId xmlns:p14="http://schemas.microsoft.com/office/powerpoint/2010/main" val="29325489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png"/><Relationship Id="rId7" Type="http://schemas.openxmlformats.org/officeDocument/2006/relationships/diagramColors" Target="../diagrams/colors1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3.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diagramColors" Target="../diagrams/colors1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4.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diagramColors" Target="../diagrams/colors13.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5.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png"/><Relationship Id="rId7" Type="http://schemas.openxmlformats.org/officeDocument/2006/relationships/diagramColors" Target="../diagrams/colors1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6.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2.png"/><Relationship Id="rId7" Type="http://schemas.openxmlformats.org/officeDocument/2006/relationships/diagramColors" Target="../diagrams/colors1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17.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png"/><Relationship Id="rId7" Type="http://schemas.openxmlformats.org/officeDocument/2006/relationships/diagramColors" Target="../diagrams/colors1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18.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2.png"/><Relationship Id="rId7" Type="http://schemas.openxmlformats.org/officeDocument/2006/relationships/diagramColors" Target="../diagrams/colors17.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19.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2.png"/><Relationship Id="rId7" Type="http://schemas.openxmlformats.org/officeDocument/2006/relationships/diagramColors" Target="../diagrams/colors18.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hyperlink" Target="https://inbet-team-o4nnjzwlbs0c.atlassian.net/jira/core/projects/CRMT/board?filter=&amp;groupBy=status" TargetMode="External"/><Relationship Id="rId3" Type="http://schemas.openxmlformats.org/officeDocument/2006/relationships/image" Target="../media/image2.png"/><Relationship Id="rId7" Type="http://schemas.openxmlformats.org/officeDocument/2006/relationships/hyperlink" Target="https://inbet.bamboohr.com/login.php?r=%2Fhome%2F"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servicedesk.egt-digital.com/servicedesk/customer/portals" TargetMode="External"/><Relationship Id="rId5" Type="http://schemas.openxmlformats.org/officeDocument/2006/relationships/hyperlink" Target="https://boadmin-uat.egt-digital.com/login" TargetMode="External"/><Relationship Id="rId4" Type="http://schemas.openxmlformats.org/officeDocument/2006/relationships/hyperlink" Target="https://backoffice.egt-digital.com/dashboard/activity" TargetMode="External"/><Relationship Id="rId9" Type="http://schemas.openxmlformats.org/officeDocument/2006/relationships/hyperlink" Target="https://inbet-team-o4nnjzwlbs0c.atlassian.net/wiki/spaces/CRM/calendars"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inbet.com/registration" TargetMode="External"/><Relationship Id="rId3" Type="http://schemas.openxmlformats.org/officeDocument/2006/relationships/image" Target="../media/image2.png"/><Relationship Id="rId7" Type="http://schemas.openxmlformats.org/officeDocument/2006/relationships/hyperlink" Target="https://inbet.com/promotion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inbet.com/ingame/promo-landing/no-deposit" TargetMode="External"/><Relationship Id="rId5" Type="http://schemas.openxmlformats.org/officeDocument/2006/relationships/hyperlink" Target="https://inbet.com/help" TargetMode="External"/><Relationship Id="rId4" Type="http://schemas.openxmlformats.org/officeDocument/2006/relationships/hyperlink" Target="https://inbet.com/sport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p:cNvGrpSpPr/>
        <p:nvPr/>
      </p:nvGrpSpPr>
      <p:grpSpPr>
        <a:xfrm>
          <a:off x="0" y="0"/>
          <a:ext cx="0" cy="0"/>
          <a:chOff x="0" y="0"/>
          <a:chExt cx="0" cy="0"/>
        </a:xfrm>
      </p:grpSpPr>
      <p:pic>
        <p:nvPicPr>
          <p:cNvPr id="1028" name="Picture 4" descr="A blue and yellow circle with yellow text&#10;&#10;AI-generated content may be incorrect.">
            <a:extLst>
              <a:ext uri="{FF2B5EF4-FFF2-40B4-BE49-F238E27FC236}">
                <a16:creationId xmlns:a16="http://schemas.microsoft.com/office/drawing/2014/main" id="{0A630377-A835-F818-3227-BB2D63EA5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1E4D2BD-13D0-8123-993F-F2BEF3C0DF9B}"/>
              </a:ext>
            </a:extLst>
          </p:cNvPr>
          <p:cNvSpPr>
            <a:spLocks noGrp="1"/>
          </p:cNvSpPr>
          <p:nvPr>
            <p:ph type="ctrTitle"/>
          </p:nvPr>
        </p:nvSpPr>
        <p:spPr>
          <a:xfrm>
            <a:off x="1173753" y="1154962"/>
            <a:ext cx="7766936" cy="1646302"/>
          </a:xfrm>
        </p:spPr>
        <p:txBody>
          <a:bodyPr/>
          <a:lstStyle/>
          <a:p>
            <a:pPr algn="ctr"/>
            <a:r>
              <a:rPr lang="en-US" dirty="0">
                <a:solidFill>
                  <a:srgbClr val="F4EE00"/>
                </a:solidFill>
              </a:rPr>
              <a:t>          Welcome</a:t>
            </a:r>
            <a:r>
              <a:rPr lang="bg-BG" dirty="0">
                <a:solidFill>
                  <a:srgbClr val="F4EE00"/>
                </a:solidFill>
              </a:rPr>
              <a:t> </a:t>
            </a:r>
            <a:r>
              <a:rPr lang="en-US" dirty="0">
                <a:solidFill>
                  <a:srgbClr val="F4EE00"/>
                </a:solidFill>
              </a:rPr>
              <a:t>to</a:t>
            </a:r>
          </a:p>
        </p:txBody>
      </p:sp>
    </p:spTree>
    <p:extLst>
      <p:ext uri="{BB962C8B-B14F-4D97-AF65-F5344CB8AC3E}">
        <p14:creationId xmlns:p14="http://schemas.microsoft.com/office/powerpoint/2010/main" val="3169692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8EDC3F7-DBD1-B152-87A0-12ADEA939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52FA2-9938-0182-41BD-9C5204F2E63A}"/>
              </a:ext>
            </a:extLst>
          </p:cNvPr>
          <p:cNvSpPr>
            <a:spLocks noGrp="1"/>
          </p:cNvSpPr>
          <p:nvPr>
            <p:ph type="ctrTitle"/>
          </p:nvPr>
        </p:nvSpPr>
        <p:spPr>
          <a:xfrm>
            <a:off x="212432" y="456188"/>
            <a:ext cx="4619084" cy="718796"/>
          </a:xfrm>
        </p:spPr>
        <p:txBody>
          <a:bodyPr/>
          <a:lstStyle/>
          <a:p>
            <a:r>
              <a:rPr lang="en-US" dirty="0"/>
              <a:t>Introduction</a:t>
            </a:r>
          </a:p>
        </p:txBody>
      </p:sp>
      <p:graphicFrame>
        <p:nvGraphicFramePr>
          <p:cNvPr id="5" name="Diagram 4">
            <a:extLst>
              <a:ext uri="{FF2B5EF4-FFF2-40B4-BE49-F238E27FC236}">
                <a16:creationId xmlns:a16="http://schemas.microsoft.com/office/drawing/2014/main" id="{D2361B99-735C-A050-2806-9D46486F8FD6}"/>
              </a:ext>
            </a:extLst>
          </p:cNvPr>
          <p:cNvGraphicFramePr/>
          <p:nvPr>
            <p:extLst>
              <p:ext uri="{D42A27DB-BD31-4B8C-83A1-F6EECF244321}">
                <p14:modId xmlns:p14="http://schemas.microsoft.com/office/powerpoint/2010/main" val="3884494018"/>
              </p:ext>
            </p:extLst>
          </p:nvPr>
        </p:nvGraphicFramePr>
        <p:xfrm>
          <a:off x="901288" y="1307689"/>
          <a:ext cx="7505291" cy="49062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71421610"/>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CDAF187-5420-B347-5B05-D67010837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83932-5DEF-E40D-8B4B-052B2C32F928}"/>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graphicFrame>
        <p:nvGraphicFramePr>
          <p:cNvPr id="4" name="Diagram 3">
            <a:extLst>
              <a:ext uri="{FF2B5EF4-FFF2-40B4-BE49-F238E27FC236}">
                <a16:creationId xmlns:a16="http://schemas.microsoft.com/office/drawing/2014/main" id="{BE0E6496-AF54-9324-E19A-6CC3DCF018FB}"/>
              </a:ext>
            </a:extLst>
          </p:cNvPr>
          <p:cNvGraphicFramePr/>
          <p:nvPr>
            <p:extLst>
              <p:ext uri="{D42A27DB-BD31-4B8C-83A1-F6EECF244321}">
                <p14:modId xmlns:p14="http://schemas.microsoft.com/office/powerpoint/2010/main" val="1578249839"/>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6AA46C63-CAE9-1F12-59DD-68959CAF4B04}"/>
              </a:ext>
            </a:extLst>
          </p:cNvPr>
          <p:cNvSpPr txBox="1"/>
          <p:nvPr/>
        </p:nvSpPr>
        <p:spPr>
          <a:xfrm>
            <a:off x="6489291" y="1582340"/>
            <a:ext cx="3057832" cy="3970318"/>
          </a:xfrm>
          <a:prstGeom prst="rect">
            <a:avLst/>
          </a:prstGeom>
          <a:noFill/>
        </p:spPr>
        <p:txBody>
          <a:bodyPr wrap="square" rtlCol="0">
            <a:spAutoFit/>
          </a:bodyPr>
          <a:lstStyle/>
          <a:p>
            <a:r>
              <a:rPr lang="en-US" dirty="0"/>
              <a:t>The </a:t>
            </a:r>
            <a:r>
              <a:rPr lang="en-US" b="1" dirty="0"/>
              <a:t>CRM (Customer Relationship Management) team</a:t>
            </a:r>
            <a:r>
              <a:rPr lang="en-US" dirty="0"/>
              <a:t> is responsible </a:t>
            </a:r>
            <a:r>
              <a:rPr lang="en-US"/>
              <a:t>for this </a:t>
            </a:r>
            <a:r>
              <a:rPr lang="en-US" dirty="0"/>
              <a:t>managing and optimizing a company's interactions with current and potential customers. Their primary goal is to build and maintain strong relationships with customers to drive satisfaction, retention, and revenue growth through promotional activity.</a:t>
            </a:r>
          </a:p>
        </p:txBody>
      </p:sp>
    </p:spTree>
    <p:extLst>
      <p:ext uri="{BB962C8B-B14F-4D97-AF65-F5344CB8AC3E}">
        <p14:creationId xmlns:p14="http://schemas.microsoft.com/office/powerpoint/2010/main" val="3750233769"/>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9CF5319F-4200-E2C3-B901-D7BC0D4F3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C4746-4774-B09E-62A8-0AC65AB320C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1D97A41C-C888-B392-22AD-0BFB593E2A39}"/>
              </a:ext>
            </a:extLst>
          </p:cNvPr>
          <p:cNvSpPr txBox="1"/>
          <p:nvPr/>
        </p:nvSpPr>
        <p:spPr>
          <a:xfrm>
            <a:off x="6499123" y="1997839"/>
            <a:ext cx="3057832" cy="3139321"/>
          </a:xfrm>
          <a:prstGeom prst="rect">
            <a:avLst/>
          </a:prstGeom>
          <a:noFill/>
        </p:spPr>
        <p:txBody>
          <a:bodyPr wrap="square" rtlCol="0">
            <a:spAutoFit/>
          </a:bodyPr>
          <a:lstStyle/>
          <a:p>
            <a:r>
              <a:rPr lang="en-US" dirty="0"/>
              <a:t>The </a:t>
            </a:r>
            <a:r>
              <a:rPr lang="en-US" b="1" dirty="0"/>
              <a:t>Casino Team </a:t>
            </a:r>
            <a:r>
              <a:rPr lang="en-US" dirty="0"/>
              <a:t>and the</a:t>
            </a:r>
            <a:r>
              <a:rPr lang="en-US" b="1" dirty="0"/>
              <a:t> Live Casino team</a:t>
            </a:r>
            <a:r>
              <a:rPr lang="en-US" dirty="0"/>
              <a:t> manage the casino games and live dealer games, ensuring a high-quality, engaging experience for players. They coordinate with third-party providers and oversee project delivery to align updates with business goals and player needs.</a:t>
            </a:r>
          </a:p>
        </p:txBody>
      </p:sp>
      <p:graphicFrame>
        <p:nvGraphicFramePr>
          <p:cNvPr id="5" name="Diagram 4">
            <a:extLst>
              <a:ext uri="{FF2B5EF4-FFF2-40B4-BE49-F238E27FC236}">
                <a16:creationId xmlns:a16="http://schemas.microsoft.com/office/drawing/2014/main" id="{F7D1EDC6-7B62-B67B-1682-BF6AFC1F356F}"/>
              </a:ext>
            </a:extLst>
          </p:cNvPr>
          <p:cNvGraphicFramePr/>
          <p:nvPr>
            <p:extLst>
              <p:ext uri="{D42A27DB-BD31-4B8C-83A1-F6EECF244321}">
                <p14:modId xmlns:p14="http://schemas.microsoft.com/office/powerpoint/2010/main" val="199441171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22667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AC0B56B6-AE94-C443-F207-6327BC816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7CB4C-D1EF-73F1-6336-A42D96DB7844}"/>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FA793C2A-E3C0-3374-3B29-72688ECA5CBA}"/>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Sports team</a:t>
            </a:r>
            <a:r>
              <a:rPr lang="en-US" dirty="0"/>
              <a:t> is the group that manages all sports betting operations—setting odds, monitoring bets, and adjusting markets to attract players while controlling risk. They strive to follow the most popular sporting events and organize promotional activity that will attract the customers.</a:t>
            </a:r>
          </a:p>
        </p:txBody>
      </p:sp>
      <p:graphicFrame>
        <p:nvGraphicFramePr>
          <p:cNvPr id="5" name="Diagram 4">
            <a:extLst>
              <a:ext uri="{FF2B5EF4-FFF2-40B4-BE49-F238E27FC236}">
                <a16:creationId xmlns:a16="http://schemas.microsoft.com/office/drawing/2014/main" id="{DA7ED9E7-B7F8-BC5A-D473-373065588C89}"/>
              </a:ext>
            </a:extLst>
          </p:cNvPr>
          <p:cNvGraphicFramePr/>
          <p:nvPr>
            <p:extLst>
              <p:ext uri="{D42A27DB-BD31-4B8C-83A1-F6EECF244321}">
                <p14:modId xmlns:p14="http://schemas.microsoft.com/office/powerpoint/2010/main" val="3808838838"/>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50621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9F6BB7AC-2309-540E-1BE4-52B69C009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2B63E-8354-D791-9A54-96FDF69B351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9C7B721F-423F-AA95-4600-BFEAD872A74A}"/>
              </a:ext>
            </a:extLst>
          </p:cNvPr>
          <p:cNvSpPr txBox="1"/>
          <p:nvPr/>
        </p:nvSpPr>
        <p:spPr>
          <a:xfrm>
            <a:off x="6499123" y="1997839"/>
            <a:ext cx="3057832" cy="3139321"/>
          </a:xfrm>
          <a:prstGeom prst="rect">
            <a:avLst/>
          </a:prstGeom>
          <a:noFill/>
        </p:spPr>
        <p:txBody>
          <a:bodyPr wrap="square" rtlCol="0">
            <a:spAutoFit/>
          </a:bodyPr>
          <a:lstStyle/>
          <a:p>
            <a:r>
              <a:rPr lang="en-US" dirty="0"/>
              <a:t>The </a:t>
            </a:r>
            <a:r>
              <a:rPr lang="en-US" b="1" dirty="0"/>
              <a:t>BI (Business Intelligence) team</a:t>
            </a:r>
            <a:r>
              <a:rPr lang="en-US" dirty="0"/>
              <a:t> collects, analyzes, and visualizes business data to help organizations make informed, data-driven decisions. They manage data tools, build dashboards, and provide insights to improve performance and strategy.</a:t>
            </a:r>
          </a:p>
        </p:txBody>
      </p:sp>
      <p:graphicFrame>
        <p:nvGraphicFramePr>
          <p:cNvPr id="5" name="Diagram 4">
            <a:extLst>
              <a:ext uri="{FF2B5EF4-FFF2-40B4-BE49-F238E27FC236}">
                <a16:creationId xmlns:a16="http://schemas.microsoft.com/office/drawing/2014/main" id="{C120832F-F3D9-825A-BD1D-F1B96C6FE7FF}"/>
              </a:ext>
            </a:extLst>
          </p:cNvPr>
          <p:cNvGraphicFramePr/>
          <p:nvPr>
            <p:extLst>
              <p:ext uri="{D42A27DB-BD31-4B8C-83A1-F6EECF244321}">
                <p14:modId xmlns:p14="http://schemas.microsoft.com/office/powerpoint/2010/main" val="256965910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52192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265A1CB2-F983-85D0-9594-EEBB31025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E92EE-AECD-1643-A822-352B0070BB63}"/>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DD3A3D10-67BE-3E41-241F-024670090B95}"/>
              </a:ext>
            </a:extLst>
          </p:cNvPr>
          <p:cNvSpPr txBox="1"/>
          <p:nvPr/>
        </p:nvSpPr>
        <p:spPr>
          <a:xfrm>
            <a:off x="6459904" y="1097280"/>
            <a:ext cx="3057832" cy="5786199"/>
          </a:xfrm>
          <a:prstGeom prst="rect">
            <a:avLst/>
          </a:prstGeom>
          <a:noFill/>
        </p:spPr>
        <p:txBody>
          <a:bodyPr wrap="square" rtlCol="0">
            <a:spAutoFit/>
          </a:bodyPr>
          <a:lstStyle/>
          <a:p>
            <a:pPr marL="285750" indent="-285750">
              <a:buFont typeface="Arial" panose="020B0604020202020204" pitchFamily="34" charset="0"/>
              <a:buChar char="•"/>
            </a:pPr>
            <a:r>
              <a:rPr lang="en-US" sz="1600" dirty="0"/>
              <a:t>The</a:t>
            </a:r>
            <a:r>
              <a:rPr lang="en-US" sz="1600" b="1" dirty="0"/>
              <a:t> Customer Support (CS) team</a:t>
            </a:r>
            <a:r>
              <a:rPr lang="en-US" sz="1600" dirty="0"/>
              <a:t> helps players have a smooth, enjoyable, and responsible gaming experience. They guide users through account setup, bonuses, and features, address issues quickly, and build loyalty while promoting safe play practices.</a:t>
            </a:r>
          </a:p>
          <a:p>
            <a:pPr marL="285750" indent="-285750">
              <a:buFont typeface="Arial" panose="020B0604020202020204" pitchFamily="34" charset="0"/>
              <a:buChar char="•"/>
            </a:pPr>
            <a:r>
              <a:rPr lang="en-US" sz="1600" dirty="0"/>
              <a:t>The </a:t>
            </a:r>
            <a:r>
              <a:rPr lang="en-US" sz="1600" b="1" dirty="0"/>
              <a:t>VIP team</a:t>
            </a:r>
            <a:r>
              <a:rPr lang="en-US" sz="1600" dirty="0"/>
              <a:t> manages relationships with high-value players, offering them personalized promotions, exclusive rewards, and dedicated support. Their aim is to increase loyalty, engagement, and lifetime value while ensuring a premium experience.</a:t>
            </a:r>
          </a:p>
          <a:p>
            <a:endParaRPr lang="en-US" sz="1600" dirty="0"/>
          </a:p>
        </p:txBody>
      </p:sp>
      <p:graphicFrame>
        <p:nvGraphicFramePr>
          <p:cNvPr id="5" name="Diagram 4">
            <a:extLst>
              <a:ext uri="{FF2B5EF4-FFF2-40B4-BE49-F238E27FC236}">
                <a16:creationId xmlns:a16="http://schemas.microsoft.com/office/drawing/2014/main" id="{B20349FF-8B40-8547-D261-48E79231D0A7}"/>
              </a:ext>
            </a:extLst>
          </p:cNvPr>
          <p:cNvGraphicFramePr/>
          <p:nvPr>
            <p:extLst>
              <p:ext uri="{D42A27DB-BD31-4B8C-83A1-F6EECF244321}">
                <p14:modId xmlns:p14="http://schemas.microsoft.com/office/powerpoint/2010/main" val="53537232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2465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E1178C60-9D87-BC59-8796-B78461A1F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0ACE8-CBD8-6150-AB9E-CD3DC71805E3}"/>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3444EEAE-F271-7A97-4A94-3A24DA7E3616}"/>
              </a:ext>
            </a:extLst>
          </p:cNvPr>
          <p:cNvSpPr txBox="1"/>
          <p:nvPr/>
        </p:nvSpPr>
        <p:spPr>
          <a:xfrm>
            <a:off x="6499123" y="1997839"/>
            <a:ext cx="3057832" cy="3693319"/>
          </a:xfrm>
          <a:prstGeom prst="rect">
            <a:avLst/>
          </a:prstGeom>
          <a:noFill/>
        </p:spPr>
        <p:txBody>
          <a:bodyPr wrap="square" rtlCol="0">
            <a:spAutoFit/>
          </a:bodyPr>
          <a:lstStyle/>
          <a:p>
            <a:r>
              <a:rPr lang="en-US" dirty="0"/>
              <a:t>The </a:t>
            </a:r>
            <a:r>
              <a:rPr lang="en-US" b="1" dirty="0"/>
              <a:t>KYC (Know Your Customer) and Payment team</a:t>
            </a:r>
            <a:r>
              <a:rPr lang="en-US" dirty="0"/>
              <a:t> verifies player identities and documents to comply with regulations, prevent fraud, and promote responsible gaming.</a:t>
            </a:r>
            <a:br>
              <a:rPr lang="en-US" dirty="0"/>
            </a:br>
            <a:r>
              <a:rPr lang="en-US" dirty="0"/>
              <a:t>It also handles deposits, withdrawals, and payment processing, ensuring fast, secure, and compliant financial transactions for players.</a:t>
            </a:r>
          </a:p>
        </p:txBody>
      </p:sp>
      <p:graphicFrame>
        <p:nvGraphicFramePr>
          <p:cNvPr id="5" name="Diagram 4">
            <a:extLst>
              <a:ext uri="{FF2B5EF4-FFF2-40B4-BE49-F238E27FC236}">
                <a16:creationId xmlns:a16="http://schemas.microsoft.com/office/drawing/2014/main" id="{B3181743-E42D-05F6-BA7C-066F9503432B}"/>
              </a:ext>
            </a:extLst>
          </p:cNvPr>
          <p:cNvGraphicFramePr/>
          <p:nvPr>
            <p:extLst>
              <p:ext uri="{D42A27DB-BD31-4B8C-83A1-F6EECF244321}">
                <p14:modId xmlns:p14="http://schemas.microsoft.com/office/powerpoint/2010/main" val="741219137"/>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16564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87EBA062-0CB3-9894-DFCD-07A93022C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78C1E-D018-9B33-4203-4237C33B5B2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AEBE361B-E487-292A-30C2-8D50E24BF7C2}"/>
              </a:ext>
            </a:extLst>
          </p:cNvPr>
          <p:cNvSpPr txBox="1"/>
          <p:nvPr/>
        </p:nvSpPr>
        <p:spPr>
          <a:xfrm>
            <a:off x="6459904" y="1174984"/>
            <a:ext cx="3057832" cy="4801314"/>
          </a:xfrm>
          <a:prstGeom prst="rect">
            <a:avLst/>
          </a:prstGeom>
          <a:noFill/>
        </p:spPr>
        <p:txBody>
          <a:bodyPr wrap="square" rtlCol="0">
            <a:spAutoFit/>
          </a:bodyPr>
          <a:lstStyle/>
          <a:p>
            <a:r>
              <a:rPr lang="en-US" dirty="0"/>
              <a:t>The </a:t>
            </a:r>
            <a:r>
              <a:rPr lang="en-US" b="1" dirty="0"/>
              <a:t>Risk and Fraud team</a:t>
            </a:r>
            <a:r>
              <a:rPr lang="en-US" dirty="0"/>
              <a:t> monitors player activity to detect and prevent suspicious behavior, such as account takeover, bonus abuse, or money laundering. They use data analysis, fraud detection tools, and manual investigations to protect both the business and legitimate customers. Their goal is to minimize financial losses, ensure compliance with regulations, and maintain trust in the platform.</a:t>
            </a:r>
          </a:p>
        </p:txBody>
      </p:sp>
      <p:graphicFrame>
        <p:nvGraphicFramePr>
          <p:cNvPr id="5" name="Diagram 4">
            <a:extLst>
              <a:ext uri="{FF2B5EF4-FFF2-40B4-BE49-F238E27FC236}">
                <a16:creationId xmlns:a16="http://schemas.microsoft.com/office/drawing/2014/main" id="{A1AF08E2-4160-9BD9-AFBB-BAB1B45A77D8}"/>
              </a:ext>
            </a:extLst>
          </p:cNvPr>
          <p:cNvGraphicFramePr/>
          <p:nvPr>
            <p:extLst>
              <p:ext uri="{D42A27DB-BD31-4B8C-83A1-F6EECF244321}">
                <p14:modId xmlns:p14="http://schemas.microsoft.com/office/powerpoint/2010/main" val="310623007"/>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2813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D3D13678-50CE-18E2-E537-FC08D03F9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87CD8-B78E-3692-1543-465DBE7A0842}"/>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083167EB-2574-04FE-188C-171E92F14BD0}"/>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Marketing team</a:t>
            </a:r>
            <a:r>
              <a:rPr lang="en-US" dirty="0"/>
              <a:t> builds brand awareness and player engagement through strategic content, partnerships, and events. They use market insights and player data to strengthen loyalty and attract new audiences.</a:t>
            </a:r>
            <a:r>
              <a:rPr lang="bg-BG" dirty="0"/>
              <a:t> </a:t>
            </a:r>
            <a:r>
              <a:rPr lang="en-US" dirty="0"/>
              <a:t>The Marketing team includes also Design, Digital  marketing, Affiliates.</a:t>
            </a:r>
          </a:p>
        </p:txBody>
      </p:sp>
      <p:graphicFrame>
        <p:nvGraphicFramePr>
          <p:cNvPr id="5" name="Diagram 4">
            <a:extLst>
              <a:ext uri="{FF2B5EF4-FFF2-40B4-BE49-F238E27FC236}">
                <a16:creationId xmlns:a16="http://schemas.microsoft.com/office/drawing/2014/main" id="{456B5270-F7E6-BE7B-040B-1E687D154F66}"/>
              </a:ext>
            </a:extLst>
          </p:cNvPr>
          <p:cNvGraphicFramePr/>
          <p:nvPr>
            <p:extLst>
              <p:ext uri="{D42A27DB-BD31-4B8C-83A1-F6EECF244321}">
                <p14:modId xmlns:p14="http://schemas.microsoft.com/office/powerpoint/2010/main" val="2180517653"/>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51287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D613813B-74C1-FD4F-CE3A-0F87CC82C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74C43B-37B1-32B2-048C-D1715CBC3801}"/>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CB22918D-283B-ECD8-1B3A-F86B61AD68FA}"/>
              </a:ext>
            </a:extLst>
          </p:cNvPr>
          <p:cNvSpPr txBox="1"/>
          <p:nvPr/>
        </p:nvSpPr>
        <p:spPr>
          <a:xfrm>
            <a:off x="6499123" y="1997839"/>
            <a:ext cx="3057832" cy="2862322"/>
          </a:xfrm>
          <a:prstGeom prst="rect">
            <a:avLst/>
          </a:prstGeom>
          <a:noFill/>
        </p:spPr>
        <p:txBody>
          <a:bodyPr wrap="square" rtlCol="0">
            <a:spAutoFit/>
          </a:bodyPr>
          <a:lstStyle/>
          <a:p>
            <a:r>
              <a:rPr lang="en-US" dirty="0"/>
              <a:t>The </a:t>
            </a:r>
            <a:r>
              <a:rPr lang="en-US" b="1" dirty="0"/>
              <a:t>Project management team c</a:t>
            </a:r>
            <a:r>
              <a:rPr lang="en-US" dirty="0"/>
              <a:t>entralizes all project-related information, tools, and communication to streamline workflows and facilitate team collaboration, ultimately ensuring projects are delivered efficiently.</a:t>
            </a:r>
          </a:p>
        </p:txBody>
      </p:sp>
      <p:graphicFrame>
        <p:nvGraphicFramePr>
          <p:cNvPr id="5" name="Diagram 4">
            <a:extLst>
              <a:ext uri="{FF2B5EF4-FFF2-40B4-BE49-F238E27FC236}">
                <a16:creationId xmlns:a16="http://schemas.microsoft.com/office/drawing/2014/main" id="{AFE6228E-5217-E9B5-0948-44C23FFDEFE4}"/>
              </a:ext>
            </a:extLst>
          </p:cNvPr>
          <p:cNvGraphicFramePr/>
          <p:nvPr>
            <p:extLst>
              <p:ext uri="{D42A27DB-BD31-4B8C-83A1-F6EECF244321}">
                <p14:modId xmlns:p14="http://schemas.microsoft.com/office/powerpoint/2010/main" val="178327136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7168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B9203C68-9EBD-FC27-DDB2-0A698BCAC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66ED1-F9C0-F66B-ABD6-DA3420DEE68C}"/>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72A06A4C-5BEB-CAAD-07D3-DA6D724D7F83}"/>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Poker &amp; Svara team</a:t>
            </a:r>
            <a:r>
              <a:rPr lang="en-US" dirty="0"/>
              <a:t> manages all aspects of the poker, </a:t>
            </a:r>
            <a:r>
              <a:rPr lang="en-US" dirty="0" err="1"/>
              <a:t>svara</a:t>
            </a:r>
            <a:r>
              <a:rPr lang="en-US" dirty="0"/>
              <a:t> and </a:t>
            </a:r>
            <a:r>
              <a:rPr lang="en-US" dirty="0" err="1"/>
              <a:t>backammon</a:t>
            </a:r>
            <a:r>
              <a:rPr lang="en-US" dirty="0"/>
              <a:t> product, including game offerings, player experience, and tournaments. They coordinate with third-party providers and oversee updates to ensure alignment with business goals and player needs.</a:t>
            </a:r>
          </a:p>
        </p:txBody>
      </p:sp>
      <p:graphicFrame>
        <p:nvGraphicFramePr>
          <p:cNvPr id="6" name="Diagram 5">
            <a:extLst>
              <a:ext uri="{FF2B5EF4-FFF2-40B4-BE49-F238E27FC236}">
                <a16:creationId xmlns:a16="http://schemas.microsoft.com/office/drawing/2014/main" id="{23C00F55-2BFB-0976-48D6-EB99C41C9A65}"/>
              </a:ext>
            </a:extLst>
          </p:cNvPr>
          <p:cNvGraphicFramePr/>
          <p:nvPr>
            <p:extLst>
              <p:ext uri="{D42A27DB-BD31-4B8C-83A1-F6EECF244321}">
                <p14:modId xmlns:p14="http://schemas.microsoft.com/office/powerpoint/2010/main" val="2627850880"/>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3879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FFD07A1-B271-E9CD-58B1-B10068E6A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E4E2-EA53-DF59-49AC-5145A79EC1E8}"/>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3339ADE2-5885-E26B-54C8-ABD424AB9AFB}"/>
              </a:ext>
            </a:extLst>
          </p:cNvPr>
          <p:cNvSpPr txBox="1"/>
          <p:nvPr/>
        </p:nvSpPr>
        <p:spPr>
          <a:xfrm>
            <a:off x="6237965" y="605667"/>
            <a:ext cx="4118078" cy="5632311"/>
          </a:xfrm>
          <a:prstGeom prst="rect">
            <a:avLst/>
          </a:prstGeom>
          <a:noFill/>
        </p:spPr>
        <p:txBody>
          <a:bodyPr wrap="square" rtlCol="0">
            <a:spAutoFit/>
          </a:bodyPr>
          <a:lstStyle/>
          <a:p>
            <a:pPr marL="285750" indent="-285750">
              <a:buFont typeface="Arial" panose="020B0604020202020204" pitchFamily="34" charset="0"/>
              <a:buChar char="•"/>
            </a:pPr>
            <a:r>
              <a:rPr lang="en-US" dirty="0"/>
              <a:t>The </a:t>
            </a:r>
            <a:r>
              <a:rPr lang="en-US" b="1" dirty="0"/>
              <a:t>Legal team</a:t>
            </a:r>
            <a:r>
              <a:rPr lang="en-US" dirty="0"/>
              <a:t> ensures the business complies with all</a:t>
            </a:r>
            <a:br>
              <a:rPr lang="en-US" dirty="0"/>
            </a:br>
            <a:r>
              <a:rPr lang="en-US" dirty="0"/>
              <a:t>gaming regulations, licensing requirements, and contractual obligations. </a:t>
            </a:r>
          </a:p>
          <a:p>
            <a:pPr marL="285750" indent="-285750">
              <a:buFont typeface="Arial" panose="020B0604020202020204" pitchFamily="34" charset="0"/>
              <a:buChar char="•"/>
            </a:pPr>
            <a:r>
              <a:rPr lang="en-US" dirty="0"/>
              <a:t>The </a:t>
            </a:r>
            <a:r>
              <a:rPr lang="en-US" b="1" dirty="0"/>
              <a:t>HR team</a:t>
            </a:r>
            <a:r>
              <a:rPr lang="en-US" dirty="0"/>
              <a:t> manages recruitment, employee relations, and talent development to support a productive and engaged workforce.</a:t>
            </a:r>
          </a:p>
          <a:p>
            <a:pPr marL="285750" indent="-285750">
              <a:buFont typeface="Arial" panose="020B0604020202020204" pitchFamily="34" charset="0"/>
              <a:buChar char="•"/>
            </a:pPr>
            <a:r>
              <a:rPr lang="en-US" dirty="0"/>
              <a:t>The </a:t>
            </a:r>
            <a:r>
              <a:rPr lang="en-US" b="1" dirty="0"/>
              <a:t>Accounting team &amp; Finance team </a:t>
            </a:r>
            <a:r>
              <a:rPr lang="en-US" dirty="0"/>
              <a:t>manage all financial records, track revenues and expenses, and ensures accurate reporting of betting transactions and payouts.</a:t>
            </a:r>
          </a:p>
          <a:p>
            <a:pPr marL="285750" indent="-285750">
              <a:buFont typeface="Arial" panose="020B0604020202020204" pitchFamily="34" charset="0"/>
              <a:buChar char="•"/>
            </a:pPr>
            <a:r>
              <a:rPr lang="en-US" dirty="0"/>
              <a:t>The </a:t>
            </a:r>
            <a:r>
              <a:rPr lang="en-US" b="1" dirty="0"/>
              <a:t>System Admins </a:t>
            </a:r>
            <a:r>
              <a:rPr lang="en-US" dirty="0"/>
              <a:t>team manages and maintains the servers, networks, and IT infrastructure that keep betting platforms running smoothly. </a:t>
            </a:r>
          </a:p>
        </p:txBody>
      </p:sp>
      <p:graphicFrame>
        <p:nvGraphicFramePr>
          <p:cNvPr id="6" name="Diagram 5">
            <a:extLst>
              <a:ext uri="{FF2B5EF4-FFF2-40B4-BE49-F238E27FC236}">
                <a16:creationId xmlns:a16="http://schemas.microsoft.com/office/drawing/2014/main" id="{4EFA20DD-67FB-80AE-B5F4-1CE0B4A2335E}"/>
              </a:ext>
            </a:extLst>
          </p:cNvPr>
          <p:cNvGraphicFramePr/>
          <p:nvPr>
            <p:extLst>
              <p:ext uri="{D42A27DB-BD31-4B8C-83A1-F6EECF244321}">
                <p14:modId xmlns:p14="http://schemas.microsoft.com/office/powerpoint/2010/main" val="22932257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17014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53D0D-908F-AE30-58DF-DAE14C8D3831}"/>
            </a:ext>
          </a:extLst>
        </p:cNvPr>
        <p:cNvGrpSpPr/>
        <p:nvPr/>
      </p:nvGrpSpPr>
      <p:grpSpPr>
        <a:xfrm>
          <a:off x="0" y="0"/>
          <a:ext cx="0" cy="0"/>
          <a:chOff x="0" y="0"/>
          <a:chExt cx="0" cy="0"/>
        </a:xfrm>
      </p:grpSpPr>
      <p:pic>
        <p:nvPicPr>
          <p:cNvPr id="8" name="Picture 7" descr="A roulette wheel with cards and chips flying&#10;&#10;AI-generated content may be incorrect.">
            <a:extLst>
              <a:ext uri="{FF2B5EF4-FFF2-40B4-BE49-F238E27FC236}">
                <a16:creationId xmlns:a16="http://schemas.microsoft.com/office/drawing/2014/main" id="{1AD9952C-8126-5E1A-959F-AD1C58791975}"/>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CF7CC1-1B1B-E85B-A1C1-008CA3EE1944}"/>
              </a:ext>
            </a:extLst>
          </p:cNvPr>
          <p:cNvSpPr>
            <a:spLocks noGrp="1"/>
          </p:cNvSpPr>
          <p:nvPr>
            <p:ph type="ctrTitle"/>
          </p:nvPr>
        </p:nvSpPr>
        <p:spPr>
          <a:xfrm>
            <a:off x="792535" y="289040"/>
            <a:ext cx="6670149" cy="718796"/>
          </a:xfrm>
        </p:spPr>
        <p:txBody>
          <a:bodyPr/>
          <a:lstStyle/>
          <a:p>
            <a:pPr algn="ctr"/>
            <a:r>
              <a:rPr lang="en-US" dirty="0"/>
              <a:t>C-level management</a:t>
            </a:r>
          </a:p>
        </p:txBody>
      </p:sp>
      <p:graphicFrame>
        <p:nvGraphicFramePr>
          <p:cNvPr id="3" name="Diagram 2">
            <a:extLst>
              <a:ext uri="{FF2B5EF4-FFF2-40B4-BE49-F238E27FC236}">
                <a16:creationId xmlns:a16="http://schemas.microsoft.com/office/drawing/2014/main" id="{65F2D14F-3399-970D-9575-75E20C276396}"/>
              </a:ext>
            </a:extLst>
          </p:cNvPr>
          <p:cNvGraphicFramePr/>
          <p:nvPr>
            <p:extLst>
              <p:ext uri="{D42A27DB-BD31-4B8C-83A1-F6EECF244321}">
                <p14:modId xmlns:p14="http://schemas.microsoft.com/office/powerpoint/2010/main" val="1827079746"/>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A55176D5-4ED4-FA06-5FBB-BAFC54595DB0}"/>
              </a:ext>
            </a:extLst>
          </p:cNvPr>
          <p:cNvSpPr txBox="1"/>
          <p:nvPr/>
        </p:nvSpPr>
        <p:spPr>
          <a:xfrm>
            <a:off x="6253316" y="1700491"/>
            <a:ext cx="3362632" cy="3139321"/>
          </a:xfrm>
          <a:prstGeom prst="rect">
            <a:avLst/>
          </a:prstGeom>
          <a:noFill/>
        </p:spPr>
        <p:txBody>
          <a:bodyPr wrap="square" rtlCol="0">
            <a:spAutoFit/>
          </a:bodyPr>
          <a:lstStyle/>
          <a:p>
            <a:r>
              <a:rPr lang="en-US" dirty="0"/>
              <a:t>A </a:t>
            </a:r>
            <a:r>
              <a:rPr lang="en-US" b="1" dirty="0"/>
              <a:t>CEO</a:t>
            </a:r>
            <a:r>
              <a:rPr lang="en-US" dirty="0"/>
              <a:t>, or </a:t>
            </a:r>
            <a:r>
              <a:rPr lang="en-US" b="1" dirty="0"/>
              <a:t>Chief Executive Officer</a:t>
            </a:r>
            <a:r>
              <a:rPr lang="en-US" dirty="0"/>
              <a:t>, is the highest-ranking executive in a company. They are responsible for making major corporate decisions, managing the overall operations and resources of a company, and acting as the main point of communication between the owner and corporate operations.</a:t>
            </a:r>
          </a:p>
        </p:txBody>
      </p:sp>
    </p:spTree>
    <p:extLst>
      <p:ext uri="{BB962C8B-B14F-4D97-AF65-F5344CB8AC3E}">
        <p14:creationId xmlns:p14="http://schemas.microsoft.com/office/powerpoint/2010/main" val="2243142356"/>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F406B-79DB-837D-9C34-F304B8802D43}"/>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E2B06667-C39B-9773-B094-2157BE5B38E4}"/>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399097A4-E077-1CFF-214F-A6CF38714963}"/>
              </a:ext>
            </a:extLst>
          </p:cNvPr>
          <p:cNvGraphicFramePr/>
          <p:nvPr>
            <p:extLst>
              <p:ext uri="{D42A27DB-BD31-4B8C-83A1-F6EECF244321}">
                <p14:modId xmlns:p14="http://schemas.microsoft.com/office/powerpoint/2010/main" val="1386249884"/>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137AFB7D-4354-1AC1-2755-C94C414691D1}"/>
              </a:ext>
            </a:extLst>
          </p:cNvPr>
          <p:cNvSpPr txBox="1"/>
          <p:nvPr/>
        </p:nvSpPr>
        <p:spPr>
          <a:xfrm>
            <a:off x="6253316" y="1700491"/>
            <a:ext cx="3362632" cy="2862322"/>
          </a:xfrm>
          <a:prstGeom prst="rect">
            <a:avLst/>
          </a:prstGeom>
          <a:noFill/>
        </p:spPr>
        <p:txBody>
          <a:bodyPr wrap="square" rtlCol="0">
            <a:spAutoFit/>
          </a:bodyPr>
          <a:lstStyle/>
          <a:p>
            <a:r>
              <a:rPr lang="en-US" dirty="0"/>
              <a:t>A </a:t>
            </a:r>
            <a:r>
              <a:rPr lang="en-US" b="1" dirty="0"/>
              <a:t>COO</a:t>
            </a:r>
            <a:r>
              <a:rPr lang="en-US" dirty="0"/>
              <a:t>, or </a:t>
            </a:r>
            <a:r>
              <a:rPr lang="en-US" b="1" dirty="0"/>
              <a:t>Chief Operating Officer</a:t>
            </a:r>
            <a:r>
              <a:rPr lang="en-US" dirty="0"/>
              <a:t>, is a senior executive responsible for managing the daily administrative and operational functions of a business. They essentially handle the "how-to" of the business's strategy, ensuring that the company's operations run smoothly and efficiently.</a:t>
            </a:r>
          </a:p>
        </p:txBody>
      </p:sp>
      <p:sp>
        <p:nvSpPr>
          <p:cNvPr id="7" name="Title 1">
            <a:extLst>
              <a:ext uri="{FF2B5EF4-FFF2-40B4-BE49-F238E27FC236}">
                <a16:creationId xmlns:a16="http://schemas.microsoft.com/office/drawing/2014/main" id="{071114E5-1E5B-21CE-F31C-4B01FEDF4C1E}"/>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141525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4D81-3132-9894-AE4E-A086A79672AC}"/>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DE91928D-D03C-457E-193C-EFBD9467A0EC}"/>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0CC017A6-D359-8E19-9D23-1C2B72410A82}"/>
              </a:ext>
            </a:extLst>
          </p:cNvPr>
          <p:cNvGraphicFramePr/>
          <p:nvPr>
            <p:extLst>
              <p:ext uri="{D42A27DB-BD31-4B8C-83A1-F6EECF244321}">
                <p14:modId xmlns:p14="http://schemas.microsoft.com/office/powerpoint/2010/main" val="125938625"/>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FC99D223-55E8-4784-1CE4-B17970F0E8AA}"/>
              </a:ext>
            </a:extLst>
          </p:cNvPr>
          <p:cNvSpPr txBox="1"/>
          <p:nvPr/>
        </p:nvSpPr>
        <p:spPr>
          <a:xfrm>
            <a:off x="6253316" y="1700491"/>
            <a:ext cx="3362632" cy="3139321"/>
          </a:xfrm>
          <a:prstGeom prst="rect">
            <a:avLst/>
          </a:prstGeom>
          <a:noFill/>
        </p:spPr>
        <p:txBody>
          <a:bodyPr wrap="square" rtlCol="0">
            <a:spAutoFit/>
          </a:bodyPr>
          <a:lstStyle/>
          <a:p>
            <a:r>
              <a:rPr lang="en-US" dirty="0"/>
              <a:t>A </a:t>
            </a:r>
            <a:r>
              <a:rPr lang="en-US" b="1" dirty="0"/>
              <a:t>CFO</a:t>
            </a:r>
            <a:r>
              <a:rPr lang="en-US" dirty="0"/>
              <a:t>, or </a:t>
            </a:r>
            <a:r>
              <a:rPr lang="en-US" b="1" dirty="0"/>
              <a:t>Chief Financial Officer, </a:t>
            </a:r>
            <a:r>
              <a:rPr lang="en-US" dirty="0"/>
              <a:t>is the top-level executive responsible for a company's financial health and stability. They manage and oversee all financial activities, including financial planning, budgeting, reporting, and risk management, while also acting as a strategic advisor to the CEO and other executives.</a:t>
            </a:r>
          </a:p>
        </p:txBody>
      </p:sp>
      <p:sp>
        <p:nvSpPr>
          <p:cNvPr id="7" name="Title 1">
            <a:extLst>
              <a:ext uri="{FF2B5EF4-FFF2-40B4-BE49-F238E27FC236}">
                <a16:creationId xmlns:a16="http://schemas.microsoft.com/office/drawing/2014/main" id="{B0DA4FDA-4564-64C2-1038-C03172449CC1}"/>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1054894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2876A-8510-2978-9836-DF783532BE6A}"/>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CF0C3B63-8326-D0F7-FA31-E84180103668}"/>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2F7398B7-CB97-014A-4A2F-CAB11EDB0D56}"/>
              </a:ext>
            </a:extLst>
          </p:cNvPr>
          <p:cNvGraphicFramePr/>
          <p:nvPr>
            <p:extLst>
              <p:ext uri="{D42A27DB-BD31-4B8C-83A1-F6EECF244321}">
                <p14:modId xmlns:p14="http://schemas.microsoft.com/office/powerpoint/2010/main" val="3601553460"/>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E3FED2DC-AD95-245C-8720-5149BFF80CE4}"/>
              </a:ext>
            </a:extLst>
          </p:cNvPr>
          <p:cNvSpPr txBox="1"/>
          <p:nvPr/>
        </p:nvSpPr>
        <p:spPr>
          <a:xfrm>
            <a:off x="6253316" y="1700491"/>
            <a:ext cx="3362632" cy="3970318"/>
          </a:xfrm>
          <a:prstGeom prst="rect">
            <a:avLst/>
          </a:prstGeom>
          <a:noFill/>
        </p:spPr>
        <p:txBody>
          <a:bodyPr wrap="square" rtlCol="0">
            <a:spAutoFit/>
          </a:bodyPr>
          <a:lstStyle/>
          <a:p>
            <a:r>
              <a:rPr lang="en-US" dirty="0"/>
              <a:t>A </a:t>
            </a:r>
            <a:r>
              <a:rPr lang="en-US" b="1" dirty="0"/>
              <a:t>CMO</a:t>
            </a:r>
            <a:r>
              <a:rPr lang="en-US" dirty="0"/>
              <a:t>, or </a:t>
            </a:r>
            <a:r>
              <a:rPr lang="en-US" b="1" dirty="0"/>
              <a:t>Chief Marketing Officer, </a:t>
            </a:r>
            <a:r>
              <a:rPr lang="en-US" dirty="0"/>
              <a:t>drives player acquisition and retention by balancing aggressive, data-led performance marketing with the creative challenge of brand differentiation in a crowded market. They must also navigate a complex web of </a:t>
            </a:r>
            <a:r>
              <a:rPr lang="en-US" b="1" dirty="0"/>
              <a:t>global regulations</a:t>
            </a:r>
            <a:r>
              <a:rPr lang="en-US" dirty="0"/>
              <a:t> and responsible gaming mandates, ensuring the brand grows without crossing legal or ethical lines.</a:t>
            </a:r>
          </a:p>
        </p:txBody>
      </p:sp>
      <p:sp>
        <p:nvSpPr>
          <p:cNvPr id="7" name="Title 1">
            <a:extLst>
              <a:ext uri="{FF2B5EF4-FFF2-40B4-BE49-F238E27FC236}">
                <a16:creationId xmlns:a16="http://schemas.microsoft.com/office/drawing/2014/main" id="{0D2E1C5A-A2F9-1A5C-6EFC-CCB5E1400B35}"/>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2386640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643A0D6-A819-5311-4CF2-6365D5255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2DA19-2D56-ADE0-7D2F-DAE76C4C9B9E}"/>
              </a:ext>
            </a:extLst>
          </p:cNvPr>
          <p:cNvSpPr>
            <a:spLocks noGrp="1"/>
          </p:cNvSpPr>
          <p:nvPr>
            <p:ph type="ctrTitle"/>
          </p:nvPr>
        </p:nvSpPr>
        <p:spPr>
          <a:xfrm>
            <a:off x="757681" y="438928"/>
            <a:ext cx="4619084" cy="718796"/>
          </a:xfrm>
        </p:spPr>
        <p:txBody>
          <a:bodyPr/>
          <a:lstStyle/>
          <a:p>
            <a:pPr algn="ctr"/>
            <a:r>
              <a:rPr lang="en-US" dirty="0"/>
              <a:t>Best Practices</a:t>
            </a:r>
          </a:p>
        </p:txBody>
      </p:sp>
      <p:graphicFrame>
        <p:nvGraphicFramePr>
          <p:cNvPr id="5" name="Diagram 4">
            <a:extLst>
              <a:ext uri="{FF2B5EF4-FFF2-40B4-BE49-F238E27FC236}">
                <a16:creationId xmlns:a16="http://schemas.microsoft.com/office/drawing/2014/main" id="{B20F82C5-5C5B-96CC-1E56-5BA682E5C053}"/>
              </a:ext>
            </a:extLst>
          </p:cNvPr>
          <p:cNvGraphicFramePr/>
          <p:nvPr>
            <p:extLst>
              <p:ext uri="{D42A27DB-BD31-4B8C-83A1-F6EECF244321}">
                <p14:modId xmlns:p14="http://schemas.microsoft.com/office/powerpoint/2010/main" val="559573578"/>
              </p:ext>
            </p:extLst>
          </p:nvPr>
        </p:nvGraphicFramePr>
        <p:xfrm>
          <a:off x="757681" y="1435509"/>
          <a:ext cx="7550577" cy="4624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55487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7419D353-07F9-CD7C-9469-96C2A00B18F7}"/>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591F257-1C60-5CB2-2F8C-4628DBC0D93B}"/>
              </a:ext>
            </a:extLst>
          </p:cNvPr>
          <p:cNvGraphicFramePr/>
          <p:nvPr>
            <p:extLst>
              <p:ext uri="{D42A27DB-BD31-4B8C-83A1-F6EECF244321}">
                <p14:modId xmlns:p14="http://schemas.microsoft.com/office/powerpoint/2010/main" val="3044008821"/>
              </p:ext>
            </p:extLst>
          </p:nvPr>
        </p:nvGraphicFramePr>
        <p:xfrm>
          <a:off x="757681" y="1435509"/>
          <a:ext cx="7550577" cy="4624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E84DD580-5E56-D623-C038-DB1356B5EB9A}"/>
              </a:ext>
            </a:extLst>
          </p:cNvPr>
          <p:cNvSpPr txBox="1">
            <a:spLocks/>
          </p:cNvSpPr>
          <p:nvPr/>
        </p:nvSpPr>
        <p:spPr>
          <a:xfrm>
            <a:off x="757681" y="438928"/>
            <a:ext cx="4619084"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Best Practices</a:t>
            </a:r>
            <a:endParaRPr lang="en-US" dirty="0"/>
          </a:p>
        </p:txBody>
      </p:sp>
    </p:spTree>
    <p:extLst>
      <p:ext uri="{BB962C8B-B14F-4D97-AF65-F5344CB8AC3E}">
        <p14:creationId xmlns:p14="http://schemas.microsoft.com/office/powerpoint/2010/main" val="289631267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C676CE1-9AD1-4FAD-9C48-96F1BB431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F97B7-BE8B-4FE5-FA27-AF098B0C2EAC}"/>
              </a:ext>
            </a:extLst>
          </p:cNvPr>
          <p:cNvSpPr>
            <a:spLocks noGrp="1"/>
          </p:cNvSpPr>
          <p:nvPr>
            <p:ph type="ctrTitle"/>
          </p:nvPr>
        </p:nvSpPr>
        <p:spPr>
          <a:xfrm>
            <a:off x="628992" y="446028"/>
            <a:ext cx="7519328" cy="718796"/>
          </a:xfrm>
        </p:spPr>
        <p:txBody>
          <a:bodyPr/>
          <a:lstStyle/>
          <a:p>
            <a:r>
              <a:rPr lang="en-US" dirty="0"/>
              <a:t>Access and permissions</a:t>
            </a:r>
          </a:p>
        </p:txBody>
      </p:sp>
      <p:sp>
        <p:nvSpPr>
          <p:cNvPr id="5" name="TextBox 4">
            <a:extLst>
              <a:ext uri="{FF2B5EF4-FFF2-40B4-BE49-F238E27FC236}">
                <a16:creationId xmlns:a16="http://schemas.microsoft.com/office/drawing/2014/main" id="{8EB3F71F-75CB-51A6-04E9-3AAB8C4E5C40}"/>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882E7E7D-0D62-7272-DB63-8ABA30037C0C}"/>
              </a:ext>
            </a:extLst>
          </p:cNvPr>
          <p:cNvGraphicFramePr>
            <a:graphicFrameLocks noGrp="1"/>
          </p:cNvGraphicFramePr>
          <p:nvPr>
            <p:extLst>
              <p:ext uri="{D42A27DB-BD31-4B8C-83A1-F6EECF244321}">
                <p14:modId xmlns:p14="http://schemas.microsoft.com/office/powerpoint/2010/main" val="4076368758"/>
              </p:ext>
            </p:extLst>
          </p:nvPr>
        </p:nvGraphicFramePr>
        <p:xfrm>
          <a:off x="920299" y="4684042"/>
          <a:ext cx="8128000" cy="1670423"/>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55580879"/>
                    </a:ext>
                  </a:extLst>
                </a:gridCol>
                <a:gridCol w="4064000">
                  <a:extLst>
                    <a:ext uri="{9D8B030D-6E8A-4147-A177-3AD203B41FA5}">
                      <a16:colId xmlns:a16="http://schemas.microsoft.com/office/drawing/2014/main" val="1732957584"/>
                    </a:ext>
                  </a:extLst>
                </a:gridCol>
              </a:tblGrid>
              <a:tr h="375203">
                <a:tc>
                  <a:txBody>
                    <a:bodyPr/>
                    <a:lstStyle/>
                    <a:p>
                      <a:pPr algn="ctr"/>
                      <a:r>
                        <a:rPr lang="en-US" dirty="0"/>
                        <a:t>Shared folder</a:t>
                      </a:r>
                    </a:p>
                  </a:txBody>
                  <a:tcPr/>
                </a:tc>
                <a:tc>
                  <a:txBody>
                    <a:bodyPr/>
                    <a:lstStyle/>
                    <a:p>
                      <a:pPr algn="ctr"/>
                      <a:r>
                        <a:rPr lang="en-US" dirty="0"/>
                        <a:t>Used for</a:t>
                      </a:r>
                    </a:p>
                  </a:txBody>
                  <a:tcPr/>
                </a:tc>
                <a:extLst>
                  <a:ext uri="{0D108BD9-81ED-4DB2-BD59-A6C34878D82A}">
                    <a16:rowId xmlns:a16="http://schemas.microsoft.com/office/drawing/2014/main" val="1308580850"/>
                  </a:ext>
                </a:extLst>
              </a:tr>
              <a:tr h="1295220">
                <a:tc>
                  <a:txBody>
                    <a:bodyPr/>
                    <a:lstStyle/>
                    <a:p>
                      <a:pPr marL="285750" indent="-285750" algn="l" fontAlgn="base">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Depending on the team</a:t>
                      </a:r>
                    </a:p>
                  </a:txBody>
                  <a:tcPr anchor="ctr"/>
                </a:tc>
                <a:tc>
                  <a:txBody>
                    <a:bodyPr/>
                    <a:lstStyle/>
                    <a:p>
                      <a:pPr algn="l"/>
                      <a:br>
                        <a:rPr lang="en-US" dirty="0">
                          <a:solidFill>
                            <a:schemeClr val="accent2">
                              <a:lumMod val="75000"/>
                            </a:schemeClr>
                          </a:solidFill>
                        </a:rPr>
                      </a:br>
                      <a:r>
                        <a:rPr lang="en-US" dirty="0">
                          <a:solidFill>
                            <a:schemeClr val="accent2">
                              <a:lumMod val="75000"/>
                            </a:schemeClr>
                          </a:solidFill>
                        </a:rPr>
                        <a:t>Used for storing files and sharing them across the team</a:t>
                      </a:r>
                    </a:p>
                  </a:txBody>
                  <a:tcPr/>
                </a:tc>
                <a:extLst>
                  <a:ext uri="{0D108BD9-81ED-4DB2-BD59-A6C34878D82A}">
                    <a16:rowId xmlns:a16="http://schemas.microsoft.com/office/drawing/2014/main" val="1346023875"/>
                  </a:ext>
                </a:extLst>
              </a:tr>
            </a:tbl>
          </a:graphicData>
        </a:graphic>
      </p:graphicFrame>
      <p:graphicFrame>
        <p:nvGraphicFramePr>
          <p:cNvPr id="10" name="Table 9">
            <a:extLst>
              <a:ext uri="{FF2B5EF4-FFF2-40B4-BE49-F238E27FC236}">
                <a16:creationId xmlns:a16="http://schemas.microsoft.com/office/drawing/2014/main" id="{73FC1F77-68FC-DE0E-A9D9-E62B82085CD5}"/>
              </a:ext>
            </a:extLst>
          </p:cNvPr>
          <p:cNvGraphicFramePr>
            <a:graphicFrameLocks noGrp="1"/>
          </p:cNvGraphicFramePr>
          <p:nvPr>
            <p:extLst>
              <p:ext uri="{D42A27DB-BD31-4B8C-83A1-F6EECF244321}">
                <p14:modId xmlns:p14="http://schemas.microsoft.com/office/powerpoint/2010/main" val="3493111158"/>
              </p:ext>
            </p:extLst>
          </p:nvPr>
        </p:nvGraphicFramePr>
        <p:xfrm>
          <a:off x="920299" y="1641733"/>
          <a:ext cx="8128000" cy="25654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315736745"/>
                    </a:ext>
                  </a:extLst>
                </a:gridCol>
                <a:gridCol w="4064000">
                  <a:extLst>
                    <a:ext uri="{9D8B030D-6E8A-4147-A177-3AD203B41FA5}">
                      <a16:colId xmlns:a16="http://schemas.microsoft.com/office/drawing/2014/main" val="3346573234"/>
                    </a:ext>
                  </a:extLst>
                </a:gridCol>
              </a:tblGrid>
              <a:tr h="370840">
                <a:tc>
                  <a:txBody>
                    <a:bodyPr/>
                    <a:lstStyle/>
                    <a:p>
                      <a:pPr algn="ctr"/>
                      <a:r>
                        <a:rPr lang="en-US" dirty="0"/>
                        <a:t>Accounts</a:t>
                      </a:r>
                    </a:p>
                  </a:txBody>
                  <a:tcPr/>
                </a:tc>
                <a:tc>
                  <a:txBody>
                    <a:bodyPr/>
                    <a:lstStyle/>
                    <a:p>
                      <a:pPr algn="ctr"/>
                      <a:r>
                        <a:rPr lang="en-US" dirty="0"/>
                        <a:t>Used for</a:t>
                      </a:r>
                    </a:p>
                  </a:txBody>
                  <a:tcPr/>
                </a:tc>
                <a:extLst>
                  <a:ext uri="{0D108BD9-81ED-4DB2-BD59-A6C34878D82A}">
                    <a16:rowId xmlns:a16="http://schemas.microsoft.com/office/drawing/2014/main" val="539232754"/>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One Drive</a:t>
                      </a:r>
                    </a:p>
                  </a:txBody>
                  <a:tcPr/>
                </a:tc>
                <a:tc>
                  <a:txBody>
                    <a:bodyPr/>
                    <a:lstStyle/>
                    <a:p>
                      <a:pPr algn="l"/>
                      <a:r>
                        <a:rPr lang="en-US" sz="1800" b="0" i="0" kern="1200" dirty="0">
                          <a:solidFill>
                            <a:schemeClr val="accent2">
                              <a:lumMod val="75000"/>
                            </a:schemeClr>
                          </a:solidFill>
                          <a:effectLst/>
                          <a:latin typeface="+mn-lt"/>
                          <a:ea typeface="+mn-ea"/>
                          <a:cs typeface="+mn-cs"/>
                        </a:rPr>
                        <a:t>Personal MS account to store information</a:t>
                      </a:r>
                    </a:p>
                  </a:txBody>
                  <a:tcPr/>
                </a:tc>
                <a:extLst>
                  <a:ext uri="{0D108BD9-81ED-4DB2-BD59-A6C34878D82A}">
                    <a16:rowId xmlns:a16="http://schemas.microsoft.com/office/drawing/2014/main" val="790541095"/>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MS Teams</a:t>
                      </a:r>
                    </a:p>
                  </a:txBody>
                  <a:tcPr/>
                </a:tc>
                <a:tc>
                  <a:txBody>
                    <a:bodyPr/>
                    <a:lstStyle/>
                    <a:p>
                      <a:pPr marL="0" algn="l" defTabSz="457200" rtl="0" eaLnBrk="1" latinLnBrk="0" hangingPunct="1"/>
                      <a:r>
                        <a:rPr lang="en-US" sz="1800" b="0" i="0" kern="1200" dirty="0">
                          <a:solidFill>
                            <a:schemeClr val="accent2">
                              <a:lumMod val="75000"/>
                            </a:schemeClr>
                          </a:solidFill>
                          <a:effectLst/>
                          <a:latin typeface="+mn-lt"/>
                          <a:ea typeface="+mn-ea"/>
                          <a:cs typeface="+mn-cs"/>
                        </a:rPr>
                        <a:t>Communication within the internal network</a:t>
                      </a:r>
                    </a:p>
                  </a:txBody>
                  <a:tcPr/>
                </a:tc>
                <a:extLst>
                  <a:ext uri="{0D108BD9-81ED-4DB2-BD59-A6C34878D82A}">
                    <a16:rowId xmlns:a16="http://schemas.microsoft.com/office/drawing/2014/main" val="3943601009"/>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Outlook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accent2">
                              <a:lumMod val="75000"/>
                            </a:schemeClr>
                          </a:solidFill>
                          <a:effectLst/>
                          <a:latin typeface="+mn-lt"/>
                          <a:ea typeface="+mn-ea"/>
                          <a:cs typeface="+mn-cs"/>
                        </a:rPr>
                        <a:t>Communication within internal network</a:t>
                      </a:r>
                    </a:p>
                    <a:p>
                      <a:pPr algn="l"/>
                      <a:endParaRPr lang="en-US" sz="1800" b="0" i="0" kern="1200" dirty="0">
                        <a:solidFill>
                          <a:schemeClr val="accent2">
                            <a:lumMod val="75000"/>
                          </a:schemeClr>
                        </a:solidFill>
                        <a:effectLst/>
                        <a:latin typeface="+mn-lt"/>
                        <a:ea typeface="+mn-ea"/>
                        <a:cs typeface="+mn-cs"/>
                      </a:endParaRPr>
                    </a:p>
                  </a:txBody>
                  <a:tcPr/>
                </a:tc>
                <a:extLst>
                  <a:ext uri="{0D108BD9-81ED-4DB2-BD59-A6C34878D82A}">
                    <a16:rowId xmlns:a16="http://schemas.microsoft.com/office/drawing/2014/main" val="3588022636"/>
                  </a:ext>
                </a:extLst>
              </a:tr>
            </a:tbl>
          </a:graphicData>
        </a:graphic>
      </p:graphicFrame>
    </p:spTree>
    <p:extLst>
      <p:ext uri="{BB962C8B-B14F-4D97-AF65-F5344CB8AC3E}">
        <p14:creationId xmlns:p14="http://schemas.microsoft.com/office/powerpoint/2010/main" val="2418117164"/>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D588285-6184-FDAD-EDAD-C716F164C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EAD8B-8BBE-F3CA-539D-079A3F628916}"/>
              </a:ext>
            </a:extLst>
          </p:cNvPr>
          <p:cNvSpPr>
            <a:spLocks noGrp="1"/>
          </p:cNvSpPr>
          <p:nvPr>
            <p:ph type="ctrTitle"/>
          </p:nvPr>
        </p:nvSpPr>
        <p:spPr>
          <a:xfrm>
            <a:off x="628992" y="446028"/>
            <a:ext cx="7519328" cy="718796"/>
          </a:xfrm>
        </p:spPr>
        <p:txBody>
          <a:bodyPr/>
          <a:lstStyle/>
          <a:p>
            <a:r>
              <a:rPr lang="en-US" dirty="0"/>
              <a:t>Access and permissions</a:t>
            </a:r>
          </a:p>
        </p:txBody>
      </p:sp>
      <p:sp>
        <p:nvSpPr>
          <p:cNvPr id="5" name="TextBox 4">
            <a:extLst>
              <a:ext uri="{FF2B5EF4-FFF2-40B4-BE49-F238E27FC236}">
                <a16:creationId xmlns:a16="http://schemas.microsoft.com/office/drawing/2014/main" id="{90F5EA6C-B1FE-B5DB-37AC-396AB3A9890B}"/>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EF9D2AEE-9D93-6F06-09EC-9DF861810067}"/>
              </a:ext>
            </a:extLst>
          </p:cNvPr>
          <p:cNvGraphicFramePr>
            <a:graphicFrameLocks noGrp="1"/>
          </p:cNvGraphicFramePr>
          <p:nvPr>
            <p:extLst>
              <p:ext uri="{D42A27DB-BD31-4B8C-83A1-F6EECF244321}">
                <p14:modId xmlns:p14="http://schemas.microsoft.com/office/powerpoint/2010/main" val="53774648"/>
              </p:ext>
            </p:extLst>
          </p:nvPr>
        </p:nvGraphicFramePr>
        <p:xfrm>
          <a:off x="904240" y="1532374"/>
          <a:ext cx="8128000" cy="403901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55580879"/>
                    </a:ext>
                  </a:extLst>
                </a:gridCol>
                <a:gridCol w="4064000">
                  <a:extLst>
                    <a:ext uri="{9D8B030D-6E8A-4147-A177-3AD203B41FA5}">
                      <a16:colId xmlns:a16="http://schemas.microsoft.com/office/drawing/2014/main" val="1732957584"/>
                    </a:ext>
                  </a:extLst>
                </a:gridCol>
              </a:tblGrid>
              <a:tr h="375203">
                <a:tc>
                  <a:txBody>
                    <a:bodyPr/>
                    <a:lstStyle/>
                    <a:p>
                      <a:pPr algn="ctr"/>
                      <a:r>
                        <a:rPr lang="en-US" dirty="0"/>
                        <a:t>Website</a:t>
                      </a:r>
                    </a:p>
                  </a:txBody>
                  <a:tcPr/>
                </a:tc>
                <a:tc>
                  <a:txBody>
                    <a:bodyPr/>
                    <a:lstStyle/>
                    <a:p>
                      <a:pPr algn="ctr"/>
                      <a:r>
                        <a:rPr lang="en-US" dirty="0"/>
                        <a:t>Used for</a:t>
                      </a:r>
                    </a:p>
                  </a:txBody>
                  <a:tcPr/>
                </a:tc>
                <a:extLst>
                  <a:ext uri="{0D108BD9-81ED-4DB2-BD59-A6C34878D82A}">
                    <a16:rowId xmlns:a16="http://schemas.microsoft.com/office/drawing/2014/main" val="1308580850"/>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4" tooltip="https://backoffice.egt-digital.com/dashboard/activity"/>
                        </a:rPr>
                        <a:t>EGT Digital Backoffice</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Production environment of the </a:t>
                      </a:r>
                      <a:r>
                        <a:rPr lang="en-US" sz="1800" b="0" i="0" kern="1200" dirty="0" err="1">
                          <a:solidFill>
                            <a:schemeClr val="accent2">
                              <a:lumMod val="75000"/>
                            </a:schemeClr>
                          </a:solidFill>
                          <a:effectLst/>
                          <a:latin typeface="+mn-lt"/>
                          <a:ea typeface="+mn-ea"/>
                          <a:cs typeface="+mn-cs"/>
                        </a:rPr>
                        <a:t>backoffice</a:t>
                      </a:r>
                      <a:endParaRPr lang="en-US" dirty="0">
                        <a:solidFill>
                          <a:schemeClr val="accent2">
                            <a:lumMod val="75000"/>
                          </a:schemeClr>
                        </a:solidFill>
                      </a:endParaRPr>
                    </a:p>
                  </a:txBody>
                  <a:tcPr/>
                </a:tc>
                <a:extLst>
                  <a:ext uri="{0D108BD9-81ED-4DB2-BD59-A6C34878D82A}">
                    <a16:rowId xmlns:a16="http://schemas.microsoft.com/office/drawing/2014/main" val="1346023875"/>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5" tooltip="https://boadmin-uat.egt-digital.com/login"/>
                        </a:rPr>
                        <a:t>EGT Digital Backoffice Staging</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Staging (UAT) environment of the </a:t>
                      </a:r>
                      <a:r>
                        <a:rPr lang="en-US" sz="1800" b="0" i="0" kern="1200" dirty="0" err="1">
                          <a:solidFill>
                            <a:schemeClr val="accent2">
                              <a:lumMod val="75000"/>
                            </a:schemeClr>
                          </a:solidFill>
                          <a:effectLst/>
                          <a:latin typeface="+mn-lt"/>
                          <a:ea typeface="+mn-ea"/>
                          <a:cs typeface="+mn-cs"/>
                        </a:rPr>
                        <a:t>backoffice</a:t>
                      </a:r>
                      <a:endParaRPr lang="en-US" dirty="0">
                        <a:solidFill>
                          <a:schemeClr val="accent2">
                            <a:lumMod val="75000"/>
                          </a:schemeClr>
                        </a:solidFill>
                      </a:endParaRPr>
                    </a:p>
                  </a:txBody>
                  <a:tcPr/>
                </a:tc>
                <a:extLst>
                  <a:ext uri="{0D108BD9-81ED-4DB2-BD59-A6C34878D82A}">
                    <a16:rowId xmlns:a16="http://schemas.microsoft.com/office/drawing/2014/main" val="865007274"/>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6" tooltip="https://servicedesk.egt-digital.com/servicedesk/customer/portals"/>
                        </a:rPr>
                        <a:t>EGT Digital Service Desk</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For raising tickets and incidents with EGT Digital</a:t>
                      </a:r>
                      <a:endParaRPr lang="en-US" dirty="0">
                        <a:solidFill>
                          <a:schemeClr val="accent2">
                            <a:lumMod val="75000"/>
                          </a:schemeClr>
                        </a:solidFill>
                      </a:endParaRPr>
                    </a:p>
                  </a:txBody>
                  <a:tcPr/>
                </a:tc>
                <a:extLst>
                  <a:ext uri="{0D108BD9-81ED-4DB2-BD59-A6C34878D82A}">
                    <a16:rowId xmlns:a16="http://schemas.microsoft.com/office/drawing/2014/main" val="2421129876"/>
                  </a:ext>
                </a:extLst>
              </a:tr>
              <a:tr h="400902">
                <a:tc>
                  <a:txBody>
                    <a:bodyPr/>
                    <a:lstStyle/>
                    <a:p>
                      <a:pPr marL="285750" indent="-285750" algn="l" fontAlgn="t">
                        <a:buFont typeface="Arial" panose="020B0604020202020204" pitchFamily="34" charset="0"/>
                        <a:buChar char="•"/>
                      </a:pPr>
                      <a:r>
                        <a:rPr lang="en-US" b="0" dirty="0">
                          <a:solidFill>
                            <a:srgbClr val="1868DB"/>
                          </a:solidFill>
                          <a:effectLst/>
                          <a:latin typeface="+mn-lt"/>
                          <a:hlinkClick r:id="rId7" tooltip="https://inbet.bamboohr.com/login.php?r=%2Fhome%2F"/>
                        </a:rPr>
                        <a:t>Bamboo HR</a:t>
                      </a:r>
                      <a:endParaRPr lang="en-US" b="0" dirty="0">
                        <a:effectLst/>
                        <a:latin typeface="+mn-lt"/>
                      </a:endParaRPr>
                    </a:p>
                  </a:txBody>
                  <a:tcPr marL="60960" marR="60960" marT="60960" marB="60960" anchor="ctr"/>
                </a:tc>
                <a:tc>
                  <a:txBody>
                    <a:bodyPr/>
                    <a:lstStyle/>
                    <a:p>
                      <a:pPr algn="l" fontAlgn="t">
                        <a:buNone/>
                      </a:pPr>
                      <a:r>
                        <a:rPr lang="en-US" b="0" dirty="0">
                          <a:solidFill>
                            <a:schemeClr val="accent2">
                              <a:lumMod val="75000"/>
                            </a:schemeClr>
                          </a:solidFill>
                          <a:effectLst/>
                          <a:latin typeface="+mn-lt"/>
                        </a:rPr>
                        <a:t>HR system for </a:t>
                      </a:r>
                      <a:r>
                        <a:rPr lang="en-US" b="0" dirty="0" err="1">
                          <a:solidFill>
                            <a:schemeClr val="accent2">
                              <a:lumMod val="75000"/>
                            </a:schemeClr>
                          </a:solidFill>
                          <a:effectLst/>
                          <a:latin typeface="+mn-lt"/>
                        </a:rPr>
                        <a:t>Inbet</a:t>
                      </a:r>
                      <a:endParaRPr lang="en-US" b="0" dirty="0">
                        <a:solidFill>
                          <a:schemeClr val="accent2">
                            <a:lumMod val="75000"/>
                          </a:schemeClr>
                        </a:solidFill>
                        <a:effectLst/>
                        <a:latin typeface="+mn-lt"/>
                      </a:endParaRPr>
                    </a:p>
                  </a:txBody>
                  <a:tcPr marL="60960" marR="60960" marT="60960" marB="60960"/>
                </a:tc>
                <a:extLst>
                  <a:ext uri="{0D108BD9-81ED-4DB2-BD59-A6C34878D82A}">
                    <a16:rowId xmlns:a16="http://schemas.microsoft.com/office/drawing/2014/main" val="1398466359"/>
                  </a:ext>
                </a:extLst>
              </a:tr>
              <a:tr h="375203">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8"/>
                        </a:rPr>
                        <a:t>Jira</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Administering Jira tickets</a:t>
                      </a:r>
                      <a:endParaRPr lang="en-US" dirty="0">
                        <a:solidFill>
                          <a:schemeClr val="accent2">
                            <a:lumMod val="75000"/>
                          </a:schemeClr>
                        </a:solidFill>
                      </a:endParaRPr>
                    </a:p>
                  </a:txBody>
                  <a:tcPr/>
                </a:tc>
                <a:extLst>
                  <a:ext uri="{0D108BD9-81ED-4DB2-BD59-A6C34878D82A}">
                    <a16:rowId xmlns:a16="http://schemas.microsoft.com/office/drawing/2014/main" val="3482895043"/>
                  </a:ext>
                </a:extLst>
              </a:tr>
              <a:tr h="400902">
                <a:tc>
                  <a:txBody>
                    <a:bodyPr/>
                    <a:lstStyle/>
                    <a:p>
                      <a:pPr marL="285750" indent="-285750" algn="l" fontAlgn="t">
                        <a:buFont typeface="Arial" panose="020B0604020202020204" pitchFamily="34" charset="0"/>
                        <a:buChar char="•"/>
                      </a:pPr>
                      <a:r>
                        <a:rPr lang="en-US" sz="1800" b="0" i="0" kern="1200" dirty="0">
                          <a:solidFill>
                            <a:schemeClr val="dk1"/>
                          </a:solidFill>
                          <a:effectLst/>
                          <a:latin typeface="+mn-lt"/>
                          <a:ea typeface="+mn-ea"/>
                          <a:cs typeface="+mn-cs"/>
                          <a:hlinkClick r:id="rId9"/>
                        </a:rPr>
                        <a:t>Confluence</a:t>
                      </a:r>
                      <a:endParaRPr lang="en-US" b="0" dirty="0">
                        <a:effectLst/>
                        <a:latin typeface="Atlassian Sans"/>
                      </a:endParaRPr>
                    </a:p>
                  </a:txBody>
                  <a:tcPr marL="60960" marR="60960" marT="60960" marB="60960" anchor="ctr"/>
                </a:tc>
                <a:tc>
                  <a:txBody>
                    <a:bodyPr/>
                    <a:lstStyle/>
                    <a:p>
                      <a:pPr algn="l" fontAlgn="t">
                        <a:buNone/>
                      </a:pPr>
                      <a:r>
                        <a:rPr lang="en-US" sz="1800" b="0" i="0" kern="1200" dirty="0">
                          <a:solidFill>
                            <a:schemeClr val="accent2">
                              <a:lumMod val="75000"/>
                            </a:schemeClr>
                          </a:solidFill>
                          <a:effectLst/>
                          <a:latin typeface="+mn-lt"/>
                          <a:ea typeface="+mn-ea"/>
                          <a:cs typeface="+mn-cs"/>
                        </a:rPr>
                        <a:t>Library of internal processes, team structures, job descriptions and other useful information</a:t>
                      </a:r>
                      <a:endParaRPr lang="en-US" b="0" dirty="0">
                        <a:solidFill>
                          <a:schemeClr val="accent2">
                            <a:lumMod val="75000"/>
                          </a:schemeClr>
                        </a:solidFill>
                        <a:effectLst/>
                        <a:latin typeface="Atlassian Sans"/>
                      </a:endParaRPr>
                    </a:p>
                  </a:txBody>
                  <a:tcPr marL="60960" marR="60960" marT="60960" marB="60960"/>
                </a:tc>
                <a:extLst>
                  <a:ext uri="{0D108BD9-81ED-4DB2-BD59-A6C34878D82A}">
                    <a16:rowId xmlns:a16="http://schemas.microsoft.com/office/drawing/2014/main" val="1719572960"/>
                  </a:ext>
                </a:extLst>
              </a:tr>
            </a:tbl>
          </a:graphicData>
        </a:graphic>
      </p:graphicFrame>
    </p:spTree>
    <p:extLst>
      <p:ext uri="{BB962C8B-B14F-4D97-AF65-F5344CB8AC3E}">
        <p14:creationId xmlns:p14="http://schemas.microsoft.com/office/powerpoint/2010/main" val="158876442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F5DE-7932-FC4C-2E9B-8346819553B8}"/>
            </a:ext>
          </a:extLst>
        </p:cNvPr>
        <p:cNvGrpSpPr/>
        <p:nvPr/>
      </p:nvGrpSpPr>
      <p:grpSpPr>
        <a:xfrm>
          <a:off x="0" y="0"/>
          <a:ext cx="0" cy="0"/>
          <a:chOff x="0" y="0"/>
          <a:chExt cx="0" cy="0"/>
        </a:xfrm>
      </p:grpSpPr>
      <p:pic>
        <p:nvPicPr>
          <p:cNvPr id="7" name="Picture 6" descr="A roulette wheel with cards and chips flying&#10;&#10;AI-generated content may be incorrect.">
            <a:extLst>
              <a:ext uri="{FF2B5EF4-FFF2-40B4-BE49-F238E27FC236}">
                <a16:creationId xmlns:a16="http://schemas.microsoft.com/office/drawing/2014/main" id="{862D5C52-D1AB-EC2F-80DB-7EFB44078577}"/>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BF62CA-34C2-7F6D-653D-694FDCC3A9A9}"/>
              </a:ext>
            </a:extLst>
          </p:cNvPr>
          <p:cNvSpPr>
            <a:spLocks noGrp="1"/>
          </p:cNvSpPr>
          <p:nvPr>
            <p:ph type="ctrTitle"/>
          </p:nvPr>
        </p:nvSpPr>
        <p:spPr>
          <a:xfrm>
            <a:off x="766589" y="1164824"/>
            <a:ext cx="7519328" cy="718796"/>
          </a:xfrm>
        </p:spPr>
        <p:txBody>
          <a:bodyPr/>
          <a:lstStyle/>
          <a:p>
            <a:pPr algn="l"/>
            <a:r>
              <a:rPr lang="en-US" dirty="0"/>
              <a:t>First steps in getting to know </a:t>
            </a:r>
            <a:r>
              <a:rPr lang="en-US" dirty="0" err="1"/>
              <a:t>Inbet</a:t>
            </a:r>
            <a:endParaRPr lang="en-US" dirty="0"/>
          </a:p>
        </p:txBody>
      </p:sp>
      <p:sp>
        <p:nvSpPr>
          <p:cNvPr id="5" name="TextBox 4">
            <a:extLst>
              <a:ext uri="{FF2B5EF4-FFF2-40B4-BE49-F238E27FC236}">
                <a16:creationId xmlns:a16="http://schemas.microsoft.com/office/drawing/2014/main" id="{67EAB4C1-1BE6-2E05-918F-FB0C55E36FC8}"/>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28931DC0-36ED-8883-5CCB-6027A198BEFA}"/>
              </a:ext>
            </a:extLst>
          </p:cNvPr>
          <p:cNvGraphicFramePr>
            <a:graphicFrameLocks noGrp="1"/>
          </p:cNvGraphicFramePr>
          <p:nvPr>
            <p:extLst>
              <p:ext uri="{D42A27DB-BD31-4B8C-83A1-F6EECF244321}">
                <p14:modId xmlns:p14="http://schemas.microsoft.com/office/powerpoint/2010/main" val="3128224846"/>
              </p:ext>
            </p:extLst>
          </p:nvPr>
        </p:nvGraphicFramePr>
        <p:xfrm>
          <a:off x="766589" y="2546255"/>
          <a:ext cx="8279088" cy="4169783"/>
        </p:xfrm>
        <a:graphic>
          <a:graphicData uri="http://schemas.openxmlformats.org/drawingml/2006/table">
            <a:tbl>
              <a:tblPr firstRow="1" bandRow="1">
                <a:tableStyleId>{5C22544A-7EE6-4342-B048-85BDC9FD1C3A}</a:tableStyleId>
              </a:tblPr>
              <a:tblGrid>
                <a:gridCol w="2851682">
                  <a:extLst>
                    <a:ext uri="{9D8B030D-6E8A-4147-A177-3AD203B41FA5}">
                      <a16:colId xmlns:a16="http://schemas.microsoft.com/office/drawing/2014/main" val="855580879"/>
                    </a:ext>
                  </a:extLst>
                </a:gridCol>
                <a:gridCol w="5427406">
                  <a:extLst>
                    <a:ext uri="{9D8B030D-6E8A-4147-A177-3AD203B41FA5}">
                      <a16:colId xmlns:a16="http://schemas.microsoft.com/office/drawing/2014/main" val="1732957584"/>
                    </a:ext>
                  </a:extLst>
                </a:gridCol>
              </a:tblGrid>
              <a:tr h="375203">
                <a:tc>
                  <a:txBody>
                    <a:bodyPr/>
                    <a:lstStyle/>
                    <a:p>
                      <a:pPr algn="ctr"/>
                      <a:r>
                        <a:rPr lang="en-US" dirty="0"/>
                        <a:t>Link</a:t>
                      </a:r>
                    </a:p>
                  </a:txBody>
                  <a:tcPr/>
                </a:tc>
                <a:tc>
                  <a:txBody>
                    <a:bodyPr/>
                    <a:lstStyle/>
                    <a:p>
                      <a:pPr algn="ctr"/>
                      <a:endParaRPr lang="en-US" dirty="0"/>
                    </a:p>
                  </a:txBody>
                  <a:tcPr/>
                </a:tc>
                <a:extLst>
                  <a:ext uri="{0D108BD9-81ED-4DB2-BD59-A6C34878D82A}">
                    <a16:rowId xmlns:a16="http://schemas.microsoft.com/office/drawing/2014/main" val="1308580850"/>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4"/>
                        </a:rPr>
                        <a:t>Inbet.com</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Take the time to review the website and all its verticals (Sports, Casino, Offers, etc.).</a:t>
                      </a:r>
                      <a:endParaRPr lang="en-US" dirty="0">
                        <a:solidFill>
                          <a:schemeClr val="accent2">
                            <a:lumMod val="75000"/>
                          </a:schemeClr>
                        </a:solidFill>
                      </a:endParaRPr>
                    </a:p>
                  </a:txBody>
                  <a:tcPr/>
                </a:tc>
                <a:extLst>
                  <a:ext uri="{0D108BD9-81ED-4DB2-BD59-A6C34878D82A}">
                    <a16:rowId xmlns:a16="http://schemas.microsoft.com/office/drawing/2014/main" val="1346023875"/>
                  </a:ext>
                </a:extLst>
              </a:tr>
              <a:tr h="647610">
                <a:tc>
                  <a:txBody>
                    <a:bodyPr/>
                    <a:lstStyle/>
                    <a:p>
                      <a:pPr marL="285750" indent="-285750" algn="l">
                        <a:buFont typeface="Arial" panose="020B0604020202020204" pitchFamily="34" charset="0"/>
                        <a:buChar char="•"/>
                      </a:pPr>
                      <a:r>
                        <a:rPr lang="en-US" dirty="0">
                          <a:hlinkClick r:id="rId5"/>
                        </a:rPr>
                        <a:t>General T&amp;Cs</a:t>
                      </a:r>
                      <a:endParaRPr lang="en-US" dirty="0"/>
                    </a:p>
                  </a:txBody>
                  <a:tcPr anchor="ctr"/>
                </a:tc>
                <a:tc>
                  <a:txBody>
                    <a:bodyPr/>
                    <a:lstStyle/>
                    <a:p>
                      <a:pPr algn="l"/>
                      <a:r>
                        <a:rPr lang="en-US" dirty="0">
                          <a:solidFill>
                            <a:schemeClr val="accent2">
                              <a:lumMod val="75000"/>
                            </a:schemeClr>
                          </a:solidFill>
                        </a:rPr>
                        <a:t>Make sure that you are well acquainted with our general T&amp;Cs as they are a focal point for all departments.</a:t>
                      </a:r>
                    </a:p>
                  </a:txBody>
                  <a:tcPr/>
                </a:tc>
                <a:extLst>
                  <a:ext uri="{0D108BD9-81ED-4DB2-BD59-A6C34878D82A}">
                    <a16:rowId xmlns:a16="http://schemas.microsoft.com/office/drawing/2014/main" val="865007274"/>
                  </a:ext>
                </a:extLst>
              </a:tr>
              <a:tr h="647610">
                <a:tc>
                  <a:txBody>
                    <a:bodyPr/>
                    <a:lstStyle/>
                    <a:p>
                      <a:pPr marL="285750" indent="-285750" algn="l">
                        <a:buFont typeface="Arial" panose="020B0604020202020204" pitchFamily="34" charset="0"/>
                        <a:buChar char="•"/>
                      </a:pPr>
                      <a:r>
                        <a:rPr lang="en-US" dirty="0">
                          <a:hlinkClick r:id="rId6"/>
                        </a:rPr>
                        <a:t>Landing page</a:t>
                      </a:r>
                      <a:endParaRPr lang="en-US" dirty="0"/>
                    </a:p>
                  </a:txBody>
                  <a:tcPr anchor="ctr"/>
                </a:tc>
                <a:tc>
                  <a:txBody>
                    <a:bodyPr/>
                    <a:lstStyle/>
                    <a:p>
                      <a:pPr algn="l"/>
                      <a:r>
                        <a:rPr lang="en-US" dirty="0">
                          <a:solidFill>
                            <a:schemeClr val="accent2">
                              <a:lumMod val="75000"/>
                            </a:schemeClr>
                          </a:solidFill>
                        </a:rPr>
                        <a:t>The Landing page gives information about our current biggest promotion. </a:t>
                      </a:r>
                    </a:p>
                  </a:txBody>
                  <a:tcPr/>
                </a:tc>
                <a:extLst>
                  <a:ext uri="{0D108BD9-81ED-4DB2-BD59-A6C34878D82A}">
                    <a16:rowId xmlns:a16="http://schemas.microsoft.com/office/drawing/2014/main" val="2421129876"/>
                  </a:ext>
                </a:extLst>
              </a:tr>
              <a:tr h="400902">
                <a:tc>
                  <a:txBody>
                    <a:bodyPr/>
                    <a:lstStyle/>
                    <a:p>
                      <a:pPr marL="285750" indent="-285750" algn="l" fontAlgn="t">
                        <a:buFont typeface="Arial" panose="020B0604020202020204" pitchFamily="34" charset="0"/>
                        <a:buChar char="•"/>
                      </a:pPr>
                      <a:r>
                        <a:rPr lang="en-US" b="0" dirty="0">
                          <a:effectLst/>
                          <a:latin typeface="+mn-lt"/>
                          <a:hlinkClick r:id="rId7"/>
                        </a:rPr>
                        <a:t>Offers</a:t>
                      </a:r>
                      <a:endParaRPr lang="en-US" b="0" dirty="0">
                        <a:effectLst/>
                        <a:latin typeface="+mn-lt"/>
                      </a:endParaRPr>
                    </a:p>
                  </a:txBody>
                  <a:tcPr marL="60960" marR="60960" marT="60960" marB="60960" anchor="ctr"/>
                </a:tc>
                <a:tc>
                  <a:txBody>
                    <a:bodyPr/>
                    <a:lstStyle/>
                    <a:p>
                      <a:pPr algn="l" fontAlgn="t">
                        <a:buNone/>
                      </a:pPr>
                      <a:r>
                        <a:rPr lang="en-US" b="0" dirty="0">
                          <a:solidFill>
                            <a:schemeClr val="accent2">
                              <a:lumMod val="75000"/>
                            </a:schemeClr>
                          </a:solidFill>
                          <a:effectLst/>
                          <a:latin typeface="+mn-lt"/>
                        </a:rPr>
                        <a:t>Check the offers and their respective T&amp;Cs in order to familiarize yourself with our usual terms.</a:t>
                      </a:r>
                    </a:p>
                  </a:txBody>
                  <a:tcPr marL="60960" marR="60960" marT="60960" marB="60960"/>
                </a:tc>
                <a:extLst>
                  <a:ext uri="{0D108BD9-81ED-4DB2-BD59-A6C34878D82A}">
                    <a16:rowId xmlns:a16="http://schemas.microsoft.com/office/drawing/2014/main" val="1398466359"/>
                  </a:ext>
                </a:extLst>
              </a:tr>
              <a:tr h="375203">
                <a:tc>
                  <a:txBody>
                    <a:bodyPr/>
                    <a:lstStyle/>
                    <a:p>
                      <a:pPr marL="285750" indent="-285750" algn="l">
                        <a:buFont typeface="Arial" panose="020B0604020202020204" pitchFamily="34" charset="0"/>
                        <a:buChar char="•"/>
                      </a:pPr>
                      <a:r>
                        <a:rPr lang="en-US" dirty="0">
                          <a:hlinkClick r:id="rId8"/>
                        </a:rPr>
                        <a:t>Create a test account</a:t>
                      </a:r>
                      <a:endParaRPr lang="en-US" dirty="0"/>
                    </a:p>
                  </a:txBody>
                  <a:tcPr anchor="ctr"/>
                </a:tc>
                <a:tc>
                  <a:txBody>
                    <a:bodyPr/>
                    <a:lstStyle/>
                    <a:p>
                      <a:pPr algn="l"/>
                      <a:r>
                        <a:rPr lang="en-US" dirty="0">
                          <a:solidFill>
                            <a:schemeClr val="accent2">
                              <a:lumMod val="75000"/>
                            </a:schemeClr>
                          </a:solidFill>
                        </a:rPr>
                        <a:t>You can create a test account with your work e-mail in order to view the website from a customer’s perspective.</a:t>
                      </a:r>
                    </a:p>
                  </a:txBody>
                  <a:tcPr/>
                </a:tc>
                <a:extLst>
                  <a:ext uri="{0D108BD9-81ED-4DB2-BD59-A6C34878D82A}">
                    <a16:rowId xmlns:a16="http://schemas.microsoft.com/office/drawing/2014/main" val="3482895043"/>
                  </a:ext>
                </a:extLst>
              </a:tr>
            </a:tbl>
          </a:graphicData>
        </a:graphic>
      </p:graphicFrame>
      <p:sp>
        <p:nvSpPr>
          <p:cNvPr id="3" name="TextBox 2">
            <a:extLst>
              <a:ext uri="{FF2B5EF4-FFF2-40B4-BE49-F238E27FC236}">
                <a16:creationId xmlns:a16="http://schemas.microsoft.com/office/drawing/2014/main" id="{2C3FDAE8-BFB0-E089-2F87-8ED627D2D745}"/>
              </a:ext>
            </a:extLst>
          </p:cNvPr>
          <p:cNvSpPr txBox="1"/>
          <p:nvPr/>
        </p:nvSpPr>
        <p:spPr>
          <a:xfrm>
            <a:off x="766589" y="1899924"/>
            <a:ext cx="6479458" cy="646331"/>
          </a:xfrm>
          <a:prstGeom prst="rect">
            <a:avLst/>
          </a:prstGeom>
          <a:noFill/>
        </p:spPr>
        <p:txBody>
          <a:bodyPr wrap="square" rtlCol="0">
            <a:spAutoFit/>
          </a:bodyPr>
          <a:lstStyle/>
          <a:p>
            <a:r>
              <a:rPr lang="en-US" dirty="0"/>
              <a:t>In order to get to know </a:t>
            </a:r>
            <a:r>
              <a:rPr lang="en-US" dirty="0" err="1"/>
              <a:t>Inbet</a:t>
            </a:r>
            <a:r>
              <a:rPr lang="en-US" dirty="0"/>
              <a:t> Online better, you can go through the following main points:</a:t>
            </a:r>
          </a:p>
        </p:txBody>
      </p:sp>
    </p:spTree>
    <p:extLst>
      <p:ext uri="{BB962C8B-B14F-4D97-AF65-F5344CB8AC3E}">
        <p14:creationId xmlns:p14="http://schemas.microsoft.com/office/powerpoint/2010/main" val="1812209790"/>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527B5633-98D0-76DB-9EF2-C43DD8CA8F61}"/>
            </a:ext>
          </a:extLst>
        </p:cNvPr>
        <p:cNvGrpSpPr/>
        <p:nvPr/>
      </p:nvGrpSpPr>
      <p:grpSpPr>
        <a:xfrm>
          <a:off x="0" y="0"/>
          <a:ext cx="0" cy="0"/>
          <a:chOff x="0" y="0"/>
          <a:chExt cx="0" cy="0"/>
        </a:xfrm>
      </p:grpSpPr>
      <p:pic>
        <p:nvPicPr>
          <p:cNvPr id="1028" name="Picture 4" descr="A blue and yellow circle with yellow text&#10;&#10;AI-generated content may be incorrect.">
            <a:extLst>
              <a:ext uri="{FF2B5EF4-FFF2-40B4-BE49-F238E27FC236}">
                <a16:creationId xmlns:a16="http://schemas.microsoft.com/office/drawing/2014/main" id="{978BFD6F-6C93-EC8C-25D2-B97741A41B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BC5D74-7F6D-C521-C46C-550E33931D53}"/>
              </a:ext>
            </a:extLst>
          </p:cNvPr>
          <p:cNvSpPr>
            <a:spLocks noGrp="1"/>
          </p:cNvSpPr>
          <p:nvPr>
            <p:ph type="ctrTitle"/>
          </p:nvPr>
        </p:nvSpPr>
        <p:spPr>
          <a:xfrm>
            <a:off x="2293812" y="1415437"/>
            <a:ext cx="7766936" cy="1646302"/>
          </a:xfrm>
        </p:spPr>
        <p:txBody>
          <a:bodyPr/>
          <a:lstStyle/>
          <a:p>
            <a:pPr algn="ctr"/>
            <a:r>
              <a:rPr lang="en-US" dirty="0">
                <a:solidFill>
                  <a:srgbClr val="F4EE00"/>
                </a:solidFill>
              </a:rPr>
              <a:t>Welcome to</a:t>
            </a:r>
            <a:br>
              <a:rPr lang="en-US" dirty="0">
                <a:solidFill>
                  <a:srgbClr val="F4EE00"/>
                </a:solidFill>
              </a:rPr>
            </a:br>
            <a:r>
              <a:rPr lang="en-US" dirty="0">
                <a:solidFill>
                  <a:srgbClr val="F4EE00"/>
                </a:solidFill>
              </a:rPr>
              <a:t> your new role</a:t>
            </a:r>
            <a:br>
              <a:rPr lang="en-US" dirty="0">
                <a:solidFill>
                  <a:srgbClr val="F4EE00"/>
                </a:solidFill>
              </a:rPr>
            </a:br>
            <a:r>
              <a:rPr lang="en-US" sz="2800" dirty="0">
                <a:solidFill>
                  <a:srgbClr val="F4EE00"/>
                </a:solidFill>
              </a:rPr>
              <a:t>at</a:t>
            </a:r>
            <a:endParaRPr lang="en-US" dirty="0">
              <a:solidFill>
                <a:srgbClr val="F4EE00"/>
              </a:solidFill>
            </a:endParaRPr>
          </a:p>
        </p:txBody>
      </p:sp>
    </p:spTree>
    <p:extLst>
      <p:ext uri="{BB962C8B-B14F-4D97-AF65-F5344CB8AC3E}">
        <p14:creationId xmlns:p14="http://schemas.microsoft.com/office/powerpoint/2010/main" val="355558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Custom 22">
      <a:dk1>
        <a:srgbClr val="17406D"/>
      </a:dk1>
      <a:lt1>
        <a:sysClr val="window" lastClr="FFFFFF"/>
      </a:lt1>
      <a:dk2>
        <a:srgbClr val="17406D"/>
      </a:dk2>
      <a:lt2>
        <a:srgbClr val="DBEFF9"/>
      </a:lt2>
      <a:accent1>
        <a:srgbClr val="324DD2"/>
      </a:accent1>
      <a:accent2>
        <a:srgbClr val="324DD2"/>
      </a:accent2>
      <a:accent3>
        <a:srgbClr val="ADB7EC"/>
      </a:accent3>
      <a:accent4>
        <a:srgbClr val="23389F"/>
      </a:accent4>
      <a:accent5>
        <a:srgbClr val="ADB7EC"/>
      </a:accent5>
      <a:accent6>
        <a:srgbClr val="8494E4"/>
      </a:accent6>
      <a:hlink>
        <a:srgbClr val="324DD2"/>
      </a:hlink>
      <a:folHlink>
        <a:srgbClr val="23389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774</TotalTime>
  <Words>1712</Words>
  <Application>Microsoft Office PowerPoint</Application>
  <PresentationFormat>Widescreen</PresentationFormat>
  <Paragraphs>287</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Atlassian Sans</vt:lpstr>
      <vt:lpstr>Trebuchet MS</vt:lpstr>
      <vt:lpstr>Wingdings 3</vt:lpstr>
      <vt:lpstr>Facet</vt:lpstr>
      <vt:lpstr>          Welcome to</vt:lpstr>
      <vt:lpstr>Introduction</vt:lpstr>
      <vt:lpstr>Inbet Teams</vt:lpstr>
      <vt:lpstr>Inbet Teams</vt:lpstr>
      <vt:lpstr>Inbet Teams</vt:lpstr>
      <vt:lpstr>Inbet Teams</vt:lpstr>
      <vt:lpstr>Inbet Teams</vt:lpstr>
      <vt:lpstr>Inbet Teams</vt:lpstr>
      <vt:lpstr>Inbet Teams</vt:lpstr>
      <vt:lpstr>Inbet Teams</vt:lpstr>
      <vt:lpstr>Inbet Teams</vt:lpstr>
      <vt:lpstr>Inbet Teams</vt:lpstr>
      <vt:lpstr>Inbet Teams</vt:lpstr>
      <vt:lpstr>C-level management</vt:lpstr>
      <vt:lpstr>PowerPoint Presentation</vt:lpstr>
      <vt:lpstr>PowerPoint Presentation</vt:lpstr>
      <vt:lpstr>PowerPoint Presentation</vt:lpstr>
      <vt:lpstr>Best Practices</vt:lpstr>
      <vt:lpstr>PowerPoint Presentation</vt:lpstr>
      <vt:lpstr>Access and permissions</vt:lpstr>
      <vt:lpstr>Access and permissions</vt:lpstr>
      <vt:lpstr>First steps in getting to know Inbet</vt:lpstr>
      <vt:lpstr>Welcome to  your new role 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Adriana Koleva</dc:creator>
  <cp:lastModifiedBy>Adriana Koleva</cp:lastModifiedBy>
  <cp:revision>24</cp:revision>
  <dcterms:created xsi:type="dcterms:W3CDTF">2025-08-12T11:29:57Z</dcterms:created>
  <dcterms:modified xsi:type="dcterms:W3CDTF">2026-06-22T13:22:03Z</dcterms:modified>
</cp:coreProperties>
</file>